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7" r:id="rId2"/>
  </p:sldIdLst>
  <p:sldSz cx="10688638" cy="15155863"/>
  <p:notesSz cx="6858000" cy="9144000"/>
  <p:defaultTextStyle>
    <a:defPPr>
      <a:defRPr lang="en-US"/>
    </a:defPPr>
    <a:lvl1pPr marL="0" algn="l" defTabSz="45701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16" algn="l" defTabSz="45701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034" algn="l" defTabSz="45701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050" algn="l" defTabSz="45701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068" algn="l" defTabSz="45701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084" algn="l" defTabSz="45701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102" algn="l" defTabSz="45701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118" algn="l" defTabSz="45701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136" algn="l" defTabSz="45701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AA1C62-357C-EB43-92C7-C3D156B57758}" name="Sara Hassan" initials="SH" userId="S::sara.hassan@bcu.ac.uk::d27902d9-0807-4afc-88d5-1b6bcbbedacb" providerId="AD"/>
  <p188:author id="{D7E78E9C-7A1B-8D94-0BE7-98B86C062E17}" name="Amna Dridi" initials="AD" userId="S::amna.dridi@bcu.ac.uk::db1d18fe-1b41-4bfb-9ae2-492bf2be32fb" providerId="AD"/>
  <p188:author id="{39B733DA-1FF7-1B03-A38D-7D70DDB274A0}" name="Gerald Feldman" initials="GF" userId="S::Gerald.Feldman@bcu.ac.uk::660f4f78-9b9b-4a79-9609-7c79c40cb83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2814"/>
    <a:srgbClr val="2A2111"/>
    <a:srgbClr val="8B0C06"/>
    <a:srgbClr val="141414"/>
    <a:srgbClr val="D5F1CB"/>
    <a:srgbClr val="ADE3F9"/>
    <a:srgbClr val="C9C9C9"/>
    <a:srgbClr val="FDFCC0"/>
    <a:srgbClr val="FAFA90"/>
    <a:srgbClr val="FFD8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510" autoAdjust="0"/>
  </p:normalViewPr>
  <p:slideViewPr>
    <p:cSldViewPr snapToGrid="0">
      <p:cViewPr varScale="1">
        <p:scale>
          <a:sx n="48" d="100"/>
          <a:sy n="48" d="100"/>
        </p:scale>
        <p:origin x="24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Mean Reward Progression</a:t>
            </a:r>
          </a:p>
        </c:rich>
      </c:tx>
      <c:layout>
        <c:manualLayout>
          <c:xMode val="edge"/>
          <c:yMode val="edge"/>
          <c:x val="0.17001433378274952"/>
          <c:y val="2.608181881931316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5768027980032918E-2"/>
          <c:y val="0.20258938407296709"/>
          <c:w val="0.87033852879917606"/>
          <c:h val="0.3382279135621021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Reward</c:v>
                </c:pt>
              </c:strCache>
            </c:strRef>
          </c:tx>
          <c:spPr>
            <a:ln w="34925" cap="rnd">
              <a:solidFill>
                <a:srgbClr val="8B0C06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Sheet1!$A$2:$A$10</c:f>
              <c:numCache>
                <c:formatCode>#,##0</c:formatCode>
                <c:ptCount val="9"/>
                <c:pt idx="0" formatCode="General">
                  <c:v>0</c:v>
                </c:pt>
                <c:pt idx="1">
                  <c:v>10000</c:v>
                </c:pt>
                <c:pt idx="2">
                  <c:v>2000000</c:v>
                </c:pt>
                <c:pt idx="3">
                  <c:v>5000000</c:v>
                </c:pt>
                <c:pt idx="4">
                  <c:v>10000000</c:v>
                </c:pt>
                <c:pt idx="5">
                  <c:v>11500000</c:v>
                </c:pt>
                <c:pt idx="6">
                  <c:v>15000000</c:v>
                </c:pt>
                <c:pt idx="7">
                  <c:v>18000000</c:v>
                </c:pt>
                <c:pt idx="8">
                  <c:v>20000000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-7.57</c:v>
                </c:pt>
                <c:pt idx="2">
                  <c:v>49.36</c:v>
                </c:pt>
                <c:pt idx="3">
                  <c:v>59.21</c:v>
                </c:pt>
                <c:pt idx="4">
                  <c:v>59.38</c:v>
                </c:pt>
                <c:pt idx="5">
                  <c:v>49.42</c:v>
                </c:pt>
                <c:pt idx="6">
                  <c:v>50.7</c:v>
                </c:pt>
                <c:pt idx="7">
                  <c:v>48.31</c:v>
                </c:pt>
                <c:pt idx="8">
                  <c:v>26.01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DE-429C-BADE-FB12EBF460A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53092335"/>
        <c:axId val="453091375"/>
      </c:lineChart>
      <c:catAx>
        <c:axId val="45309233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Training Steps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3091375"/>
        <c:crosses val="autoZero"/>
        <c:auto val="1"/>
        <c:lblAlgn val="ctr"/>
        <c:lblOffset val="100"/>
        <c:noMultiLvlLbl val="0"/>
      </c:catAx>
      <c:valAx>
        <c:axId val="453091375"/>
        <c:scaling>
          <c:orientation val="minMax"/>
        </c:scaling>
        <c:delete val="0"/>
        <c:axPos val="l"/>
        <c:majorGridlines>
          <c:spPr>
            <a:ln w="9525" cap="flat" cmpd="sng" algn="ctr">
              <a:gradFill flip="none" rotWithShape="1">
                <a:gsLst>
                  <a:gs pos="52000">
                    <a:srgbClr val="0A2814"/>
                  </a:gs>
                  <a:gs pos="100000">
                    <a:srgbClr val="C00000"/>
                  </a:gs>
                </a:gsLst>
                <a:path path="shape">
                  <a:fillToRect l="50000" t="50000" r="50000" b="50000"/>
                </a:path>
                <a:tileRect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30923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399172398236785"/>
          <c:y val="0.87286785619614171"/>
          <c:w val="0.33718495568239465"/>
          <c:h val="0.1203746817412579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tx1">
            <a:lumMod val="85000"/>
            <a:lumOff val="15000"/>
          </a:schemeClr>
        </a:gs>
        <a:gs pos="100000">
          <a:schemeClr val="tx1">
            <a:lumMod val="50000"/>
            <a:lumOff val="50000"/>
          </a:schemeClr>
        </a:gs>
      </a:gsLst>
      <a:lin ang="5400000" scaled="1"/>
      <a:tileRect/>
    </a:gradFill>
    <a:ln w="25400">
      <a:gradFill>
        <a:gsLst>
          <a:gs pos="0">
            <a:srgbClr val="C00000"/>
          </a:gs>
          <a:gs pos="24000">
            <a:srgbClr val="8B0C06"/>
          </a:gs>
          <a:gs pos="67000">
            <a:srgbClr val="2A2111"/>
          </a:gs>
          <a:gs pos="100000">
            <a:srgbClr val="0A2814"/>
          </a:gs>
        </a:gsLst>
        <a:lin ang="5400000" scaled="1"/>
      </a:gra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>
                <a:solidFill>
                  <a:schemeClr val="bg1"/>
                </a:solidFill>
              </a:rPr>
              <a:t>Player Preference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Player Preference</c:v>
                </c:pt>
              </c:strCache>
            </c:strRef>
          </c:tx>
          <c:dPt>
            <c:idx val="0"/>
            <c:bubble3D val="0"/>
            <c:spPr>
              <a:solidFill>
                <a:srgbClr val="C00000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AF1-4A54-B9B8-57C39CBFAD99}"/>
              </c:ext>
            </c:extLst>
          </c:dPt>
          <c:dPt>
            <c:idx val="1"/>
            <c:bubble3D val="0"/>
            <c:spPr>
              <a:solidFill>
                <a:srgbClr val="0A2814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AF1-4A54-B9B8-57C39CBFAD9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Enemy A (RL)</c:v>
                </c:pt>
                <c:pt idx="1">
                  <c:v>Enemy B (BT)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AF1-4A54-B9B8-57C39CBFAD99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>
                <a:solidFill>
                  <a:schemeClr val="bg1"/>
                </a:solidFill>
              </a:rPr>
              <a:t>Most Human Like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Most Human Like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rgbClr val="C00000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AF1-4A54-B9B8-57C39CBFAD99}"/>
              </c:ext>
            </c:extLst>
          </c:dPt>
          <c:dPt>
            <c:idx val="1"/>
            <c:bubble3D val="0"/>
            <c:spPr>
              <a:solidFill>
                <a:srgbClr val="0A2814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AF1-4A54-B9B8-57C39CBFAD99}"/>
              </c:ext>
            </c:extLst>
          </c:dPt>
          <c:dPt>
            <c:idx val="2"/>
            <c:bubble3D val="0"/>
            <c:spPr>
              <a:solidFill>
                <a:schemeClr val="bg2">
                  <a:lumMod val="50000"/>
                </a:schemeClr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030B-4F55-8161-21C9E65ACDB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Enemy A (RL)</c:v>
                </c:pt>
                <c:pt idx="1">
                  <c:v>Enemy B (BT)</c:v>
                </c:pt>
                <c:pt idx="2">
                  <c:v>No Difference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7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AF1-4A54-B9B8-57C39CBFAD99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7C3031-6B5A-4967-A18F-DD9F1C0ABF23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9975" y="1143000"/>
            <a:ext cx="2178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9B214-B482-472A-8B74-5FBB07B21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852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25" algn="l" defTabSz="9138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51" algn="l" defTabSz="9138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776" algn="l" defTabSz="9138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02" algn="l" defTabSz="9138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626" algn="l" defTabSz="9138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553" algn="l" defTabSz="9138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477" algn="l" defTabSz="9138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404" algn="l" defTabSz="9138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9B214-B482-472A-8B74-5FBB07B21E1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3381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669D-33D1-4404-A99D-C4224B9C8823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BB938-4F35-4C55-A752-C266FC789A0F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 descr="BCU Logo&#10;">
            <a:extLst>
              <a:ext uri="{FF2B5EF4-FFF2-40B4-BE49-F238E27FC236}">
                <a16:creationId xmlns:a16="http://schemas.microsoft.com/office/drawing/2014/main" id="{B5892A26-67EE-8F8B-A35B-7781AFF4EB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74520" y="301714"/>
            <a:ext cx="1879274" cy="37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363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4844" y="806916"/>
            <a:ext cx="9218950" cy="2929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4844" y="4034547"/>
            <a:ext cx="9218950" cy="9616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4844" y="14047246"/>
            <a:ext cx="2404944" cy="8069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2669D-33D1-4404-A99D-C4224B9C8823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0615" y="14047246"/>
            <a:ext cx="3607415" cy="8069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8850" y="14047246"/>
            <a:ext cx="2404944" cy="8069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BB938-4F35-4C55-A752-C266FC789A0F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Picture 30" descr="BCU Logo&#10;">
            <a:extLst>
              <a:ext uri="{FF2B5EF4-FFF2-40B4-BE49-F238E27FC236}">
                <a16:creationId xmlns:a16="http://schemas.microsoft.com/office/drawing/2014/main" id="{90B37426-47F8-D558-12B9-5EAD5C9AA4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78115" y="116733"/>
            <a:ext cx="1879274" cy="37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378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1068842" rtl="0" eaLnBrk="1" latinLnBrk="0" hangingPunct="1">
        <a:lnSpc>
          <a:spcPct val="90000"/>
        </a:lnSpc>
        <a:spcBef>
          <a:spcPct val="0"/>
        </a:spcBef>
        <a:buNone/>
        <a:defRPr sz="514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7211" indent="-267211" algn="l" defTabSz="1068842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3273" kern="1200">
          <a:solidFill>
            <a:schemeClr val="tx1"/>
          </a:solidFill>
          <a:latin typeface="+mn-lt"/>
          <a:ea typeface="+mn-ea"/>
          <a:cs typeface="+mn-cs"/>
        </a:defRPr>
      </a:lvl1pPr>
      <a:lvl2pPr marL="801632" indent="-267211" algn="l" defTabSz="1068842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805" kern="1200">
          <a:solidFill>
            <a:schemeClr val="tx1"/>
          </a:solidFill>
          <a:latin typeface="+mn-lt"/>
          <a:ea typeface="+mn-ea"/>
          <a:cs typeface="+mn-cs"/>
        </a:defRPr>
      </a:lvl2pPr>
      <a:lvl3pPr marL="1336053" indent="-267211" algn="l" defTabSz="1068842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870474" indent="-267211" algn="l" defTabSz="1068842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4pPr>
      <a:lvl5pPr marL="2404895" indent="-267211" algn="l" defTabSz="1068842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5pPr>
      <a:lvl6pPr marL="2939316" indent="-267211" algn="l" defTabSz="1068842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6pPr>
      <a:lvl7pPr marL="3473737" indent="-267211" algn="l" defTabSz="1068842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7pPr>
      <a:lvl8pPr marL="4008158" indent="-267211" algn="l" defTabSz="1068842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8pPr>
      <a:lvl9pPr marL="4542579" indent="-267211" algn="l" defTabSz="1068842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sz="21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1pPr>
      <a:lvl2pPr marL="534421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2pPr>
      <a:lvl3pPr marL="1068842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3pPr>
      <a:lvl4pPr marL="1603263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4pPr>
      <a:lvl5pPr marL="2137684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5pPr>
      <a:lvl6pPr marL="2672105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6pPr>
      <a:lvl7pPr marL="3206526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7pPr>
      <a:lvl8pPr marL="3740948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8pPr>
      <a:lvl9pPr marL="4275369" algn="l" defTabSz="1068842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hart" Target="../charts/chart3.xml"/><Relationship Id="rId5" Type="http://schemas.openxmlformats.org/officeDocument/2006/relationships/chart" Target="../charts/chart1.xml"/><Relationship Id="rId10" Type="http://schemas.openxmlformats.org/officeDocument/2006/relationships/image" Target="../media/image6.png"/><Relationship Id="rId4" Type="http://schemas.microsoft.com/office/2007/relationships/hdphoto" Target="../media/hdphoto1.wdp"/><Relationship Id="rId9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39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F0F5268-7B74-6D17-D685-3AE4B0F2B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498"/>
            <a:ext cx="10722721" cy="15155863"/>
          </a:xfrm>
          <a:prstGeom prst="rect">
            <a:avLst/>
          </a:prstGeom>
          <a:gradFill flip="none" rotWithShape="1">
            <a:gsLst>
              <a:gs pos="74000">
                <a:srgbClr val="6A0A0A">
                  <a:alpha val="75000"/>
                </a:srgbClr>
              </a:gs>
              <a:gs pos="47000">
                <a:srgbClr val="400F0F">
                  <a:alpha val="75000"/>
                </a:srgbClr>
              </a:gs>
              <a:gs pos="15000">
                <a:srgbClr val="141414">
                  <a:alpha val="75000"/>
                </a:srgbClr>
              </a:gs>
              <a:gs pos="100000">
                <a:srgbClr val="C00000">
                  <a:alpha val="7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Rockwell Extra Bold" panose="02060903040505020403" pitchFamily="18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C7119D-BBE0-B136-4EC1-D3F92F4408DD}"/>
              </a:ext>
            </a:extLst>
          </p:cNvPr>
          <p:cNvSpPr/>
          <p:nvPr/>
        </p:nvSpPr>
        <p:spPr>
          <a:xfrm>
            <a:off x="150908" y="42107"/>
            <a:ext cx="10415551" cy="1380050"/>
          </a:xfrm>
          <a:custGeom>
            <a:avLst/>
            <a:gdLst>
              <a:gd name="csX0" fmla="*/ 0 w 10415551"/>
              <a:gd name="csY0" fmla="*/ 0 h 1380050"/>
              <a:gd name="csX1" fmla="*/ 578642 w 10415551"/>
              <a:gd name="csY1" fmla="*/ 0 h 1380050"/>
              <a:gd name="csX2" fmla="*/ 844817 w 10415551"/>
              <a:gd name="csY2" fmla="*/ 0 h 1380050"/>
              <a:gd name="csX3" fmla="*/ 1319303 w 10415551"/>
              <a:gd name="csY3" fmla="*/ 0 h 1380050"/>
              <a:gd name="csX4" fmla="*/ 2002100 w 10415551"/>
              <a:gd name="csY4" fmla="*/ 0 h 1380050"/>
              <a:gd name="csX5" fmla="*/ 2476587 w 10415551"/>
              <a:gd name="csY5" fmla="*/ 0 h 1380050"/>
              <a:gd name="csX6" fmla="*/ 3263539 w 10415551"/>
              <a:gd name="csY6" fmla="*/ 0 h 1380050"/>
              <a:gd name="csX7" fmla="*/ 3946337 w 10415551"/>
              <a:gd name="csY7" fmla="*/ 0 h 1380050"/>
              <a:gd name="csX8" fmla="*/ 4316667 w 10415551"/>
              <a:gd name="csY8" fmla="*/ 0 h 1380050"/>
              <a:gd name="csX9" fmla="*/ 5103620 w 10415551"/>
              <a:gd name="csY9" fmla="*/ 0 h 1380050"/>
              <a:gd name="csX10" fmla="*/ 5682262 w 10415551"/>
              <a:gd name="csY10" fmla="*/ 0 h 1380050"/>
              <a:gd name="csX11" fmla="*/ 6156748 w 10415551"/>
              <a:gd name="csY11" fmla="*/ 0 h 1380050"/>
              <a:gd name="csX12" fmla="*/ 6631234 w 10415551"/>
              <a:gd name="csY12" fmla="*/ 0 h 1380050"/>
              <a:gd name="csX13" fmla="*/ 7418187 w 10415551"/>
              <a:gd name="csY13" fmla="*/ 0 h 1380050"/>
              <a:gd name="csX14" fmla="*/ 7996829 w 10415551"/>
              <a:gd name="csY14" fmla="*/ 0 h 1380050"/>
              <a:gd name="csX15" fmla="*/ 8679626 w 10415551"/>
              <a:gd name="csY15" fmla="*/ 0 h 1380050"/>
              <a:gd name="csX16" fmla="*/ 9154112 w 10415551"/>
              <a:gd name="csY16" fmla="*/ 0 h 1380050"/>
              <a:gd name="csX17" fmla="*/ 9420287 w 10415551"/>
              <a:gd name="csY17" fmla="*/ 0 h 1380050"/>
              <a:gd name="csX18" fmla="*/ 10415551 w 10415551"/>
              <a:gd name="csY18" fmla="*/ 0 h 1380050"/>
              <a:gd name="csX19" fmla="*/ 10415551 w 10415551"/>
              <a:gd name="csY19" fmla="*/ 446216 h 1380050"/>
              <a:gd name="csX20" fmla="*/ 10415551 w 10415551"/>
              <a:gd name="csY20" fmla="*/ 878632 h 1380050"/>
              <a:gd name="csX21" fmla="*/ 10415551 w 10415551"/>
              <a:gd name="csY21" fmla="*/ 1380050 h 1380050"/>
              <a:gd name="csX22" fmla="*/ 9941065 w 10415551"/>
              <a:gd name="csY22" fmla="*/ 1380050 h 1380050"/>
              <a:gd name="csX23" fmla="*/ 9570734 w 10415551"/>
              <a:gd name="csY23" fmla="*/ 1380050 h 1380050"/>
              <a:gd name="csX24" fmla="*/ 9304559 w 10415551"/>
              <a:gd name="csY24" fmla="*/ 1380050 h 1380050"/>
              <a:gd name="csX25" fmla="*/ 8934228 w 10415551"/>
              <a:gd name="csY25" fmla="*/ 1380050 h 1380050"/>
              <a:gd name="csX26" fmla="*/ 8668053 w 10415551"/>
              <a:gd name="csY26" fmla="*/ 1380050 h 1380050"/>
              <a:gd name="csX27" fmla="*/ 8297722 w 10415551"/>
              <a:gd name="csY27" fmla="*/ 1380050 h 1380050"/>
              <a:gd name="csX28" fmla="*/ 7510770 w 10415551"/>
              <a:gd name="csY28" fmla="*/ 1380050 h 1380050"/>
              <a:gd name="csX29" fmla="*/ 6827972 w 10415551"/>
              <a:gd name="csY29" fmla="*/ 1380050 h 1380050"/>
              <a:gd name="csX30" fmla="*/ 6249331 w 10415551"/>
              <a:gd name="csY30" fmla="*/ 1380050 h 1380050"/>
              <a:gd name="csX31" fmla="*/ 5462378 w 10415551"/>
              <a:gd name="csY31" fmla="*/ 1380050 h 1380050"/>
              <a:gd name="csX32" fmla="*/ 5092047 w 10415551"/>
              <a:gd name="csY32" fmla="*/ 1380050 h 1380050"/>
              <a:gd name="csX33" fmla="*/ 4513405 w 10415551"/>
              <a:gd name="csY33" fmla="*/ 1380050 h 1380050"/>
              <a:gd name="csX34" fmla="*/ 4143075 w 10415551"/>
              <a:gd name="csY34" fmla="*/ 1380050 h 1380050"/>
              <a:gd name="csX35" fmla="*/ 3668589 w 10415551"/>
              <a:gd name="csY35" fmla="*/ 1380050 h 1380050"/>
              <a:gd name="csX36" fmla="*/ 3298258 w 10415551"/>
              <a:gd name="csY36" fmla="*/ 1380050 h 1380050"/>
              <a:gd name="csX37" fmla="*/ 3032083 w 10415551"/>
              <a:gd name="csY37" fmla="*/ 1380050 h 1380050"/>
              <a:gd name="csX38" fmla="*/ 2557596 w 10415551"/>
              <a:gd name="csY38" fmla="*/ 1380050 h 1380050"/>
              <a:gd name="csX39" fmla="*/ 2291421 w 10415551"/>
              <a:gd name="csY39" fmla="*/ 1380050 h 1380050"/>
              <a:gd name="csX40" fmla="*/ 2025246 w 10415551"/>
              <a:gd name="csY40" fmla="*/ 1380050 h 1380050"/>
              <a:gd name="csX41" fmla="*/ 1550760 w 10415551"/>
              <a:gd name="csY41" fmla="*/ 1380050 h 1380050"/>
              <a:gd name="csX42" fmla="*/ 763807 w 10415551"/>
              <a:gd name="csY42" fmla="*/ 1380050 h 1380050"/>
              <a:gd name="csX43" fmla="*/ 497632 w 10415551"/>
              <a:gd name="csY43" fmla="*/ 1380050 h 1380050"/>
              <a:gd name="csX44" fmla="*/ 0 w 10415551"/>
              <a:gd name="csY44" fmla="*/ 1380050 h 1380050"/>
              <a:gd name="csX45" fmla="*/ 0 w 10415551"/>
              <a:gd name="csY45" fmla="*/ 906233 h 1380050"/>
              <a:gd name="csX46" fmla="*/ 0 w 10415551"/>
              <a:gd name="csY46" fmla="*/ 460017 h 1380050"/>
              <a:gd name="csX47" fmla="*/ 0 w 10415551"/>
              <a:gd name="csY47" fmla="*/ 0 h 13800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</a:cxnLst>
            <a:rect l="l" t="t" r="r" b="b"/>
            <a:pathLst>
              <a:path w="10415551" h="1380050" fill="none" extrusionOk="0">
                <a:moveTo>
                  <a:pt x="0" y="0"/>
                </a:moveTo>
                <a:cubicBezTo>
                  <a:pt x="258774" y="-45842"/>
                  <a:pt x="374875" y="65086"/>
                  <a:pt x="578642" y="0"/>
                </a:cubicBezTo>
                <a:cubicBezTo>
                  <a:pt x="782409" y="-65086"/>
                  <a:pt x="743508" y="21730"/>
                  <a:pt x="844817" y="0"/>
                </a:cubicBezTo>
                <a:cubicBezTo>
                  <a:pt x="946126" y="-21730"/>
                  <a:pt x="1164964" y="21255"/>
                  <a:pt x="1319303" y="0"/>
                </a:cubicBezTo>
                <a:cubicBezTo>
                  <a:pt x="1473642" y="-21255"/>
                  <a:pt x="1754680" y="14021"/>
                  <a:pt x="2002100" y="0"/>
                </a:cubicBezTo>
                <a:cubicBezTo>
                  <a:pt x="2249520" y="-14021"/>
                  <a:pt x="2378132" y="5017"/>
                  <a:pt x="2476587" y="0"/>
                </a:cubicBezTo>
                <a:cubicBezTo>
                  <a:pt x="2575042" y="-5017"/>
                  <a:pt x="2897233" y="83874"/>
                  <a:pt x="3263539" y="0"/>
                </a:cubicBezTo>
                <a:cubicBezTo>
                  <a:pt x="3629845" y="-83874"/>
                  <a:pt x="3611422" y="48323"/>
                  <a:pt x="3946337" y="0"/>
                </a:cubicBezTo>
                <a:cubicBezTo>
                  <a:pt x="4281252" y="-48323"/>
                  <a:pt x="4154885" y="14903"/>
                  <a:pt x="4316667" y="0"/>
                </a:cubicBezTo>
                <a:cubicBezTo>
                  <a:pt x="4478449" y="-14903"/>
                  <a:pt x="4932417" y="49041"/>
                  <a:pt x="5103620" y="0"/>
                </a:cubicBezTo>
                <a:cubicBezTo>
                  <a:pt x="5274823" y="-49041"/>
                  <a:pt x="5421103" y="58982"/>
                  <a:pt x="5682262" y="0"/>
                </a:cubicBezTo>
                <a:cubicBezTo>
                  <a:pt x="5943421" y="-58982"/>
                  <a:pt x="6042592" y="51223"/>
                  <a:pt x="6156748" y="0"/>
                </a:cubicBezTo>
                <a:cubicBezTo>
                  <a:pt x="6270904" y="-51223"/>
                  <a:pt x="6456235" y="4266"/>
                  <a:pt x="6631234" y="0"/>
                </a:cubicBezTo>
                <a:cubicBezTo>
                  <a:pt x="6806233" y="-4266"/>
                  <a:pt x="7138976" y="28652"/>
                  <a:pt x="7418187" y="0"/>
                </a:cubicBezTo>
                <a:cubicBezTo>
                  <a:pt x="7697398" y="-28652"/>
                  <a:pt x="7781926" y="43791"/>
                  <a:pt x="7996829" y="0"/>
                </a:cubicBezTo>
                <a:cubicBezTo>
                  <a:pt x="8211732" y="-43791"/>
                  <a:pt x="8471915" y="19524"/>
                  <a:pt x="8679626" y="0"/>
                </a:cubicBezTo>
                <a:cubicBezTo>
                  <a:pt x="8887337" y="-19524"/>
                  <a:pt x="8980040" y="33465"/>
                  <a:pt x="9154112" y="0"/>
                </a:cubicBezTo>
                <a:cubicBezTo>
                  <a:pt x="9328184" y="-33465"/>
                  <a:pt x="9302184" y="23565"/>
                  <a:pt x="9420287" y="0"/>
                </a:cubicBezTo>
                <a:cubicBezTo>
                  <a:pt x="9538390" y="-23565"/>
                  <a:pt x="9930332" y="2923"/>
                  <a:pt x="10415551" y="0"/>
                </a:cubicBezTo>
                <a:cubicBezTo>
                  <a:pt x="10454926" y="134912"/>
                  <a:pt x="10413486" y="227498"/>
                  <a:pt x="10415551" y="446216"/>
                </a:cubicBezTo>
                <a:cubicBezTo>
                  <a:pt x="10417616" y="664934"/>
                  <a:pt x="10369946" y="745934"/>
                  <a:pt x="10415551" y="878632"/>
                </a:cubicBezTo>
                <a:cubicBezTo>
                  <a:pt x="10461156" y="1011330"/>
                  <a:pt x="10355556" y="1182855"/>
                  <a:pt x="10415551" y="1380050"/>
                </a:cubicBezTo>
                <a:cubicBezTo>
                  <a:pt x="10293181" y="1407935"/>
                  <a:pt x="10048717" y="1375114"/>
                  <a:pt x="9941065" y="1380050"/>
                </a:cubicBezTo>
                <a:cubicBezTo>
                  <a:pt x="9833413" y="1384986"/>
                  <a:pt x="9748104" y="1340533"/>
                  <a:pt x="9570734" y="1380050"/>
                </a:cubicBezTo>
                <a:cubicBezTo>
                  <a:pt x="9393364" y="1419567"/>
                  <a:pt x="9391795" y="1350550"/>
                  <a:pt x="9304559" y="1380050"/>
                </a:cubicBezTo>
                <a:cubicBezTo>
                  <a:pt x="9217324" y="1409550"/>
                  <a:pt x="9110571" y="1380040"/>
                  <a:pt x="8934228" y="1380050"/>
                </a:cubicBezTo>
                <a:cubicBezTo>
                  <a:pt x="8757885" y="1380060"/>
                  <a:pt x="8797735" y="1368968"/>
                  <a:pt x="8668053" y="1380050"/>
                </a:cubicBezTo>
                <a:cubicBezTo>
                  <a:pt x="8538372" y="1391132"/>
                  <a:pt x="8417174" y="1370483"/>
                  <a:pt x="8297722" y="1380050"/>
                </a:cubicBezTo>
                <a:cubicBezTo>
                  <a:pt x="8178270" y="1389617"/>
                  <a:pt x="7678332" y="1315355"/>
                  <a:pt x="7510770" y="1380050"/>
                </a:cubicBezTo>
                <a:cubicBezTo>
                  <a:pt x="7343208" y="1444745"/>
                  <a:pt x="6970309" y="1308626"/>
                  <a:pt x="6827972" y="1380050"/>
                </a:cubicBezTo>
                <a:cubicBezTo>
                  <a:pt x="6685635" y="1451474"/>
                  <a:pt x="6479803" y="1365963"/>
                  <a:pt x="6249331" y="1380050"/>
                </a:cubicBezTo>
                <a:cubicBezTo>
                  <a:pt x="6018859" y="1394137"/>
                  <a:pt x="5785224" y="1338911"/>
                  <a:pt x="5462378" y="1380050"/>
                </a:cubicBezTo>
                <a:cubicBezTo>
                  <a:pt x="5139532" y="1421189"/>
                  <a:pt x="5173862" y="1370729"/>
                  <a:pt x="5092047" y="1380050"/>
                </a:cubicBezTo>
                <a:cubicBezTo>
                  <a:pt x="5010232" y="1389371"/>
                  <a:pt x="4710257" y="1324348"/>
                  <a:pt x="4513405" y="1380050"/>
                </a:cubicBezTo>
                <a:cubicBezTo>
                  <a:pt x="4316553" y="1435752"/>
                  <a:pt x="4274712" y="1376954"/>
                  <a:pt x="4143075" y="1380050"/>
                </a:cubicBezTo>
                <a:cubicBezTo>
                  <a:pt x="4011438" y="1383146"/>
                  <a:pt x="3814953" y="1353181"/>
                  <a:pt x="3668589" y="1380050"/>
                </a:cubicBezTo>
                <a:cubicBezTo>
                  <a:pt x="3522225" y="1406919"/>
                  <a:pt x="3451484" y="1378991"/>
                  <a:pt x="3298258" y="1380050"/>
                </a:cubicBezTo>
                <a:cubicBezTo>
                  <a:pt x="3145032" y="1381109"/>
                  <a:pt x="3156922" y="1354036"/>
                  <a:pt x="3032083" y="1380050"/>
                </a:cubicBezTo>
                <a:cubicBezTo>
                  <a:pt x="2907245" y="1406064"/>
                  <a:pt x="2734456" y="1350358"/>
                  <a:pt x="2557596" y="1380050"/>
                </a:cubicBezTo>
                <a:cubicBezTo>
                  <a:pt x="2380736" y="1409742"/>
                  <a:pt x="2415792" y="1374132"/>
                  <a:pt x="2291421" y="1380050"/>
                </a:cubicBezTo>
                <a:cubicBezTo>
                  <a:pt x="2167051" y="1385968"/>
                  <a:pt x="2158200" y="1360435"/>
                  <a:pt x="2025246" y="1380050"/>
                </a:cubicBezTo>
                <a:cubicBezTo>
                  <a:pt x="1892292" y="1399665"/>
                  <a:pt x="1749183" y="1324801"/>
                  <a:pt x="1550760" y="1380050"/>
                </a:cubicBezTo>
                <a:cubicBezTo>
                  <a:pt x="1352337" y="1435299"/>
                  <a:pt x="1074644" y="1348588"/>
                  <a:pt x="763807" y="1380050"/>
                </a:cubicBezTo>
                <a:cubicBezTo>
                  <a:pt x="452970" y="1411512"/>
                  <a:pt x="553446" y="1354249"/>
                  <a:pt x="497632" y="1380050"/>
                </a:cubicBezTo>
                <a:cubicBezTo>
                  <a:pt x="441819" y="1405851"/>
                  <a:pt x="115881" y="1365484"/>
                  <a:pt x="0" y="1380050"/>
                </a:cubicBezTo>
                <a:cubicBezTo>
                  <a:pt x="-45187" y="1210722"/>
                  <a:pt x="8652" y="1095704"/>
                  <a:pt x="0" y="906233"/>
                </a:cubicBezTo>
                <a:cubicBezTo>
                  <a:pt x="-8652" y="716762"/>
                  <a:pt x="26762" y="618989"/>
                  <a:pt x="0" y="460017"/>
                </a:cubicBezTo>
                <a:cubicBezTo>
                  <a:pt x="-26762" y="301045"/>
                  <a:pt x="11774" y="179728"/>
                  <a:pt x="0" y="0"/>
                </a:cubicBezTo>
                <a:close/>
              </a:path>
              <a:path w="10415551" h="1380050" stroke="0" extrusionOk="0">
                <a:moveTo>
                  <a:pt x="0" y="0"/>
                </a:moveTo>
                <a:cubicBezTo>
                  <a:pt x="289108" y="-50969"/>
                  <a:pt x="547639" y="2259"/>
                  <a:pt x="786953" y="0"/>
                </a:cubicBezTo>
                <a:cubicBezTo>
                  <a:pt x="1026267" y="-2259"/>
                  <a:pt x="987233" y="12195"/>
                  <a:pt x="1053128" y="0"/>
                </a:cubicBezTo>
                <a:cubicBezTo>
                  <a:pt x="1119023" y="-12195"/>
                  <a:pt x="1540471" y="26223"/>
                  <a:pt x="1840081" y="0"/>
                </a:cubicBezTo>
                <a:cubicBezTo>
                  <a:pt x="2139691" y="-26223"/>
                  <a:pt x="2224283" y="55780"/>
                  <a:pt x="2522878" y="0"/>
                </a:cubicBezTo>
                <a:cubicBezTo>
                  <a:pt x="2821473" y="-55780"/>
                  <a:pt x="2792621" y="52681"/>
                  <a:pt x="2997364" y="0"/>
                </a:cubicBezTo>
                <a:cubicBezTo>
                  <a:pt x="3202107" y="-52681"/>
                  <a:pt x="3418195" y="40885"/>
                  <a:pt x="3576006" y="0"/>
                </a:cubicBezTo>
                <a:cubicBezTo>
                  <a:pt x="3733817" y="-40885"/>
                  <a:pt x="3910713" y="2507"/>
                  <a:pt x="4050492" y="0"/>
                </a:cubicBezTo>
                <a:cubicBezTo>
                  <a:pt x="4190271" y="-2507"/>
                  <a:pt x="4320106" y="11101"/>
                  <a:pt x="4420823" y="0"/>
                </a:cubicBezTo>
                <a:cubicBezTo>
                  <a:pt x="4521540" y="-11101"/>
                  <a:pt x="4768962" y="27295"/>
                  <a:pt x="4895309" y="0"/>
                </a:cubicBezTo>
                <a:cubicBezTo>
                  <a:pt x="5021656" y="-27295"/>
                  <a:pt x="5111009" y="13691"/>
                  <a:pt x="5265640" y="0"/>
                </a:cubicBezTo>
                <a:cubicBezTo>
                  <a:pt x="5420271" y="-13691"/>
                  <a:pt x="5594745" y="1286"/>
                  <a:pt x="5844281" y="0"/>
                </a:cubicBezTo>
                <a:cubicBezTo>
                  <a:pt x="6093817" y="-1286"/>
                  <a:pt x="6373773" y="29992"/>
                  <a:pt x="6527079" y="0"/>
                </a:cubicBezTo>
                <a:cubicBezTo>
                  <a:pt x="6680385" y="-29992"/>
                  <a:pt x="7058849" y="46464"/>
                  <a:pt x="7209876" y="0"/>
                </a:cubicBezTo>
                <a:cubicBezTo>
                  <a:pt x="7360903" y="-46464"/>
                  <a:pt x="7750842" y="75149"/>
                  <a:pt x="7996829" y="0"/>
                </a:cubicBezTo>
                <a:cubicBezTo>
                  <a:pt x="8242816" y="-75149"/>
                  <a:pt x="8210328" y="7951"/>
                  <a:pt x="8367159" y="0"/>
                </a:cubicBezTo>
                <a:cubicBezTo>
                  <a:pt x="8523990" y="-7951"/>
                  <a:pt x="8579492" y="15415"/>
                  <a:pt x="8737490" y="0"/>
                </a:cubicBezTo>
                <a:cubicBezTo>
                  <a:pt x="8895488" y="-15415"/>
                  <a:pt x="8926332" y="27626"/>
                  <a:pt x="9003665" y="0"/>
                </a:cubicBezTo>
                <a:cubicBezTo>
                  <a:pt x="9080998" y="-27626"/>
                  <a:pt x="9600750" y="47781"/>
                  <a:pt x="9790618" y="0"/>
                </a:cubicBezTo>
                <a:cubicBezTo>
                  <a:pt x="9980486" y="-47781"/>
                  <a:pt x="10273201" y="647"/>
                  <a:pt x="10415551" y="0"/>
                </a:cubicBezTo>
                <a:cubicBezTo>
                  <a:pt x="10439728" y="109869"/>
                  <a:pt x="10405285" y="248011"/>
                  <a:pt x="10415551" y="473817"/>
                </a:cubicBezTo>
                <a:cubicBezTo>
                  <a:pt x="10425817" y="699623"/>
                  <a:pt x="10362481" y="831558"/>
                  <a:pt x="10415551" y="933834"/>
                </a:cubicBezTo>
                <a:cubicBezTo>
                  <a:pt x="10468621" y="1036110"/>
                  <a:pt x="10405504" y="1195371"/>
                  <a:pt x="10415551" y="1380050"/>
                </a:cubicBezTo>
                <a:cubicBezTo>
                  <a:pt x="10172647" y="1389874"/>
                  <a:pt x="9825441" y="1357185"/>
                  <a:pt x="9628598" y="1380050"/>
                </a:cubicBezTo>
                <a:cubicBezTo>
                  <a:pt x="9431755" y="1402915"/>
                  <a:pt x="9005892" y="1296796"/>
                  <a:pt x="8841646" y="1380050"/>
                </a:cubicBezTo>
                <a:cubicBezTo>
                  <a:pt x="8677400" y="1463304"/>
                  <a:pt x="8481638" y="1320188"/>
                  <a:pt x="8263004" y="1380050"/>
                </a:cubicBezTo>
                <a:cubicBezTo>
                  <a:pt x="8044370" y="1439912"/>
                  <a:pt x="7868202" y="1299468"/>
                  <a:pt x="7476051" y="1380050"/>
                </a:cubicBezTo>
                <a:cubicBezTo>
                  <a:pt x="7083900" y="1460632"/>
                  <a:pt x="6921227" y="1347466"/>
                  <a:pt x="6689098" y="1380050"/>
                </a:cubicBezTo>
                <a:cubicBezTo>
                  <a:pt x="6456969" y="1412634"/>
                  <a:pt x="6503639" y="1357852"/>
                  <a:pt x="6318768" y="1380050"/>
                </a:cubicBezTo>
                <a:cubicBezTo>
                  <a:pt x="6133897" y="1402248"/>
                  <a:pt x="6121362" y="1374198"/>
                  <a:pt x="6052592" y="1380050"/>
                </a:cubicBezTo>
                <a:cubicBezTo>
                  <a:pt x="5983822" y="1385902"/>
                  <a:pt x="5512007" y="1315169"/>
                  <a:pt x="5265640" y="1380050"/>
                </a:cubicBezTo>
                <a:cubicBezTo>
                  <a:pt x="5019273" y="1444931"/>
                  <a:pt x="5084245" y="1350976"/>
                  <a:pt x="4999464" y="1380050"/>
                </a:cubicBezTo>
                <a:cubicBezTo>
                  <a:pt x="4914683" y="1409124"/>
                  <a:pt x="4572520" y="1379720"/>
                  <a:pt x="4316667" y="1380050"/>
                </a:cubicBezTo>
                <a:cubicBezTo>
                  <a:pt x="4060814" y="1380380"/>
                  <a:pt x="4103740" y="1375657"/>
                  <a:pt x="3946337" y="1380050"/>
                </a:cubicBezTo>
                <a:cubicBezTo>
                  <a:pt x="3788934" y="1384443"/>
                  <a:pt x="3695673" y="1366267"/>
                  <a:pt x="3576006" y="1380050"/>
                </a:cubicBezTo>
                <a:cubicBezTo>
                  <a:pt x="3456339" y="1393833"/>
                  <a:pt x="3375824" y="1353451"/>
                  <a:pt x="3309831" y="1380050"/>
                </a:cubicBezTo>
                <a:cubicBezTo>
                  <a:pt x="3243839" y="1406649"/>
                  <a:pt x="3103098" y="1369877"/>
                  <a:pt x="3043655" y="1380050"/>
                </a:cubicBezTo>
                <a:cubicBezTo>
                  <a:pt x="2984212" y="1390223"/>
                  <a:pt x="2567083" y="1346418"/>
                  <a:pt x="2360858" y="1380050"/>
                </a:cubicBezTo>
                <a:cubicBezTo>
                  <a:pt x="2154633" y="1413682"/>
                  <a:pt x="2222840" y="1362704"/>
                  <a:pt x="2094683" y="1380050"/>
                </a:cubicBezTo>
                <a:cubicBezTo>
                  <a:pt x="1966527" y="1397396"/>
                  <a:pt x="1589469" y="1355484"/>
                  <a:pt x="1411886" y="1380050"/>
                </a:cubicBezTo>
                <a:cubicBezTo>
                  <a:pt x="1234303" y="1404616"/>
                  <a:pt x="1166694" y="1376068"/>
                  <a:pt x="937400" y="1380050"/>
                </a:cubicBezTo>
                <a:cubicBezTo>
                  <a:pt x="708106" y="1384032"/>
                  <a:pt x="423722" y="1290914"/>
                  <a:pt x="0" y="1380050"/>
                </a:cubicBezTo>
                <a:cubicBezTo>
                  <a:pt x="-21261" y="1179996"/>
                  <a:pt x="57731" y="1077844"/>
                  <a:pt x="0" y="892432"/>
                </a:cubicBezTo>
                <a:cubicBezTo>
                  <a:pt x="-57731" y="707020"/>
                  <a:pt x="44394" y="676445"/>
                  <a:pt x="0" y="473817"/>
                </a:cubicBezTo>
                <a:cubicBezTo>
                  <a:pt x="-44394" y="271189"/>
                  <a:pt x="7600" y="132968"/>
                  <a:pt x="0" y="0"/>
                </a:cubicBezTo>
                <a:close/>
              </a:path>
            </a:pathLst>
          </a:custGeom>
          <a:gradFill>
            <a:gsLst>
              <a:gs pos="18000">
                <a:srgbClr val="141414"/>
              </a:gs>
              <a:gs pos="100000">
                <a:srgbClr val="FF0000"/>
              </a:gs>
            </a:gsLst>
            <a:lin ang="5400000" scaled="1"/>
          </a:gra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75882763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rPr lang="en-GB" sz="3200" dirty="0">
                <a:latin typeface="VT323" panose="00000509000000000000" pitchFamily="49" charset="0"/>
                <a:cs typeface="Arial" panose="020B0604020202020204" pitchFamily="34" charset="0"/>
              </a:rPr>
              <a:t>REINFORCEMENT LEARNING TO IMPROVE AI BEHAVIOUR AND ADAPTABILITY IN A GAME ENVIRONMENT</a:t>
            </a: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rPr lang="en-GB" sz="1600" dirty="0">
                <a:latin typeface="Rockwell" panose="02060603020205020403" pitchFamily="18" charset="0"/>
                <a:cs typeface="Arial" panose="020B0604020202020204" pitchFamily="34" charset="0"/>
              </a:rPr>
              <a:t>Tamer Hussen | S23130437 | Supervisor: Jan Krasniewicz | Computer Games Technology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91D0C2-021C-F373-6534-3D662492D779}"/>
              </a:ext>
            </a:extLst>
          </p:cNvPr>
          <p:cNvSpPr/>
          <p:nvPr/>
        </p:nvSpPr>
        <p:spPr>
          <a:xfrm>
            <a:off x="150909" y="13805447"/>
            <a:ext cx="9297892" cy="1288076"/>
          </a:xfrm>
          <a:custGeom>
            <a:avLst/>
            <a:gdLst>
              <a:gd name="csX0" fmla="*/ 0 w 9297892"/>
              <a:gd name="csY0" fmla="*/ 0 h 1288076"/>
              <a:gd name="csX1" fmla="*/ 302181 w 9297892"/>
              <a:gd name="csY1" fmla="*/ 0 h 1288076"/>
              <a:gd name="csX2" fmla="*/ 697342 w 9297892"/>
              <a:gd name="csY2" fmla="*/ 0 h 1288076"/>
              <a:gd name="csX3" fmla="*/ 999523 w 9297892"/>
              <a:gd name="csY3" fmla="*/ 0 h 1288076"/>
              <a:gd name="csX4" fmla="*/ 1580642 w 9297892"/>
              <a:gd name="csY4" fmla="*/ 0 h 1288076"/>
              <a:gd name="csX5" fmla="*/ 2347718 w 9297892"/>
              <a:gd name="csY5" fmla="*/ 0 h 1288076"/>
              <a:gd name="csX6" fmla="*/ 2928836 w 9297892"/>
              <a:gd name="csY6" fmla="*/ 0 h 1288076"/>
              <a:gd name="csX7" fmla="*/ 3695912 w 9297892"/>
              <a:gd name="csY7" fmla="*/ 0 h 1288076"/>
              <a:gd name="csX8" fmla="*/ 4370009 w 9297892"/>
              <a:gd name="csY8" fmla="*/ 0 h 1288076"/>
              <a:gd name="csX9" fmla="*/ 5044106 w 9297892"/>
              <a:gd name="csY9" fmla="*/ 0 h 1288076"/>
              <a:gd name="csX10" fmla="*/ 5811183 w 9297892"/>
              <a:gd name="csY10" fmla="*/ 0 h 1288076"/>
              <a:gd name="csX11" fmla="*/ 6392301 w 9297892"/>
              <a:gd name="csY11" fmla="*/ 0 h 1288076"/>
              <a:gd name="csX12" fmla="*/ 6787461 w 9297892"/>
              <a:gd name="csY12" fmla="*/ 0 h 1288076"/>
              <a:gd name="csX13" fmla="*/ 7461558 w 9297892"/>
              <a:gd name="csY13" fmla="*/ 0 h 1288076"/>
              <a:gd name="csX14" fmla="*/ 7763740 w 9297892"/>
              <a:gd name="csY14" fmla="*/ 0 h 1288076"/>
              <a:gd name="csX15" fmla="*/ 8344858 w 9297892"/>
              <a:gd name="csY15" fmla="*/ 0 h 1288076"/>
              <a:gd name="csX16" fmla="*/ 9297892 w 9297892"/>
              <a:gd name="csY16" fmla="*/ 0 h 1288076"/>
              <a:gd name="csX17" fmla="*/ 9297892 w 9297892"/>
              <a:gd name="csY17" fmla="*/ 455120 h 1288076"/>
              <a:gd name="csX18" fmla="*/ 9297892 w 9297892"/>
              <a:gd name="csY18" fmla="*/ 845837 h 1288076"/>
              <a:gd name="csX19" fmla="*/ 9297892 w 9297892"/>
              <a:gd name="csY19" fmla="*/ 1288076 h 1288076"/>
              <a:gd name="csX20" fmla="*/ 8995711 w 9297892"/>
              <a:gd name="csY20" fmla="*/ 1288076 h 1288076"/>
              <a:gd name="csX21" fmla="*/ 8693529 w 9297892"/>
              <a:gd name="csY21" fmla="*/ 1288076 h 1288076"/>
              <a:gd name="csX22" fmla="*/ 8019432 w 9297892"/>
              <a:gd name="csY22" fmla="*/ 1288076 h 1288076"/>
              <a:gd name="csX23" fmla="*/ 7717250 w 9297892"/>
              <a:gd name="csY23" fmla="*/ 1288076 h 1288076"/>
              <a:gd name="csX24" fmla="*/ 6950174 w 9297892"/>
              <a:gd name="csY24" fmla="*/ 1288076 h 1288076"/>
              <a:gd name="csX25" fmla="*/ 6555014 w 9297892"/>
              <a:gd name="csY25" fmla="*/ 1288076 h 1288076"/>
              <a:gd name="csX26" fmla="*/ 5973896 w 9297892"/>
              <a:gd name="csY26" fmla="*/ 1288076 h 1288076"/>
              <a:gd name="csX27" fmla="*/ 5392777 w 9297892"/>
              <a:gd name="csY27" fmla="*/ 1288076 h 1288076"/>
              <a:gd name="csX28" fmla="*/ 4625701 w 9297892"/>
              <a:gd name="csY28" fmla="*/ 1288076 h 1288076"/>
              <a:gd name="csX29" fmla="*/ 4230541 w 9297892"/>
              <a:gd name="csY29" fmla="*/ 1288076 h 1288076"/>
              <a:gd name="csX30" fmla="*/ 3835380 w 9297892"/>
              <a:gd name="csY30" fmla="*/ 1288076 h 1288076"/>
              <a:gd name="csX31" fmla="*/ 3254262 w 9297892"/>
              <a:gd name="csY31" fmla="*/ 1288076 h 1288076"/>
              <a:gd name="csX32" fmla="*/ 2952081 w 9297892"/>
              <a:gd name="csY32" fmla="*/ 1288076 h 1288076"/>
              <a:gd name="csX33" fmla="*/ 2556920 w 9297892"/>
              <a:gd name="csY33" fmla="*/ 1288076 h 1288076"/>
              <a:gd name="csX34" fmla="*/ 2254739 w 9297892"/>
              <a:gd name="csY34" fmla="*/ 1288076 h 1288076"/>
              <a:gd name="csX35" fmla="*/ 1487663 w 9297892"/>
              <a:gd name="csY35" fmla="*/ 1288076 h 1288076"/>
              <a:gd name="csX36" fmla="*/ 1092502 w 9297892"/>
              <a:gd name="csY36" fmla="*/ 1288076 h 1288076"/>
              <a:gd name="csX37" fmla="*/ 511384 w 9297892"/>
              <a:gd name="csY37" fmla="*/ 1288076 h 1288076"/>
              <a:gd name="csX38" fmla="*/ 0 w 9297892"/>
              <a:gd name="csY38" fmla="*/ 1288076 h 1288076"/>
              <a:gd name="csX39" fmla="*/ 0 w 9297892"/>
              <a:gd name="csY39" fmla="*/ 845837 h 1288076"/>
              <a:gd name="csX40" fmla="*/ 0 w 9297892"/>
              <a:gd name="csY40" fmla="*/ 403597 h 1288076"/>
              <a:gd name="csX41" fmla="*/ 0 w 9297892"/>
              <a:gd name="csY41" fmla="*/ 0 h 12880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9297892" h="1288076" fill="none" extrusionOk="0">
                <a:moveTo>
                  <a:pt x="0" y="0"/>
                </a:moveTo>
                <a:cubicBezTo>
                  <a:pt x="96000" y="-32919"/>
                  <a:pt x="163858" y="33135"/>
                  <a:pt x="302181" y="0"/>
                </a:cubicBezTo>
                <a:cubicBezTo>
                  <a:pt x="440504" y="-33135"/>
                  <a:pt x="596143" y="30388"/>
                  <a:pt x="697342" y="0"/>
                </a:cubicBezTo>
                <a:cubicBezTo>
                  <a:pt x="798541" y="-30388"/>
                  <a:pt x="908598" y="31145"/>
                  <a:pt x="999523" y="0"/>
                </a:cubicBezTo>
                <a:cubicBezTo>
                  <a:pt x="1090448" y="-31145"/>
                  <a:pt x="1315239" y="15002"/>
                  <a:pt x="1580642" y="0"/>
                </a:cubicBezTo>
                <a:cubicBezTo>
                  <a:pt x="1846045" y="-15002"/>
                  <a:pt x="2019971" y="75102"/>
                  <a:pt x="2347718" y="0"/>
                </a:cubicBezTo>
                <a:cubicBezTo>
                  <a:pt x="2675465" y="-75102"/>
                  <a:pt x="2690389" y="46195"/>
                  <a:pt x="2928836" y="0"/>
                </a:cubicBezTo>
                <a:cubicBezTo>
                  <a:pt x="3167283" y="-46195"/>
                  <a:pt x="3439881" y="75297"/>
                  <a:pt x="3695912" y="0"/>
                </a:cubicBezTo>
                <a:cubicBezTo>
                  <a:pt x="3951943" y="-75297"/>
                  <a:pt x="4126487" y="45168"/>
                  <a:pt x="4370009" y="0"/>
                </a:cubicBezTo>
                <a:cubicBezTo>
                  <a:pt x="4613531" y="-45168"/>
                  <a:pt x="4895933" y="61478"/>
                  <a:pt x="5044106" y="0"/>
                </a:cubicBezTo>
                <a:cubicBezTo>
                  <a:pt x="5192279" y="-61478"/>
                  <a:pt x="5436125" y="21144"/>
                  <a:pt x="5811183" y="0"/>
                </a:cubicBezTo>
                <a:cubicBezTo>
                  <a:pt x="6186241" y="-21144"/>
                  <a:pt x="6254594" y="33985"/>
                  <a:pt x="6392301" y="0"/>
                </a:cubicBezTo>
                <a:cubicBezTo>
                  <a:pt x="6530008" y="-33985"/>
                  <a:pt x="6644747" y="39069"/>
                  <a:pt x="6787461" y="0"/>
                </a:cubicBezTo>
                <a:cubicBezTo>
                  <a:pt x="6930175" y="-39069"/>
                  <a:pt x="7231040" y="25166"/>
                  <a:pt x="7461558" y="0"/>
                </a:cubicBezTo>
                <a:cubicBezTo>
                  <a:pt x="7692076" y="-25166"/>
                  <a:pt x="7695806" y="20696"/>
                  <a:pt x="7763740" y="0"/>
                </a:cubicBezTo>
                <a:cubicBezTo>
                  <a:pt x="7831674" y="-20696"/>
                  <a:pt x="8061316" y="67561"/>
                  <a:pt x="8344858" y="0"/>
                </a:cubicBezTo>
                <a:cubicBezTo>
                  <a:pt x="8628400" y="-67561"/>
                  <a:pt x="9099570" y="77235"/>
                  <a:pt x="9297892" y="0"/>
                </a:cubicBezTo>
                <a:cubicBezTo>
                  <a:pt x="9321223" y="144970"/>
                  <a:pt x="9287358" y="307940"/>
                  <a:pt x="9297892" y="455120"/>
                </a:cubicBezTo>
                <a:cubicBezTo>
                  <a:pt x="9308426" y="602300"/>
                  <a:pt x="9292303" y="667067"/>
                  <a:pt x="9297892" y="845837"/>
                </a:cubicBezTo>
                <a:cubicBezTo>
                  <a:pt x="9303481" y="1024607"/>
                  <a:pt x="9273642" y="1110085"/>
                  <a:pt x="9297892" y="1288076"/>
                </a:cubicBezTo>
                <a:cubicBezTo>
                  <a:pt x="9224214" y="1292535"/>
                  <a:pt x="9142146" y="1254358"/>
                  <a:pt x="8995711" y="1288076"/>
                </a:cubicBezTo>
                <a:cubicBezTo>
                  <a:pt x="8849276" y="1321794"/>
                  <a:pt x="8827172" y="1277064"/>
                  <a:pt x="8693529" y="1288076"/>
                </a:cubicBezTo>
                <a:cubicBezTo>
                  <a:pt x="8559886" y="1299088"/>
                  <a:pt x="8191645" y="1226037"/>
                  <a:pt x="8019432" y="1288076"/>
                </a:cubicBezTo>
                <a:cubicBezTo>
                  <a:pt x="7847219" y="1350115"/>
                  <a:pt x="7845651" y="1262605"/>
                  <a:pt x="7717250" y="1288076"/>
                </a:cubicBezTo>
                <a:cubicBezTo>
                  <a:pt x="7588849" y="1313547"/>
                  <a:pt x="7275477" y="1245783"/>
                  <a:pt x="6950174" y="1288076"/>
                </a:cubicBezTo>
                <a:cubicBezTo>
                  <a:pt x="6624871" y="1330369"/>
                  <a:pt x="6745735" y="1253528"/>
                  <a:pt x="6555014" y="1288076"/>
                </a:cubicBezTo>
                <a:cubicBezTo>
                  <a:pt x="6364293" y="1322624"/>
                  <a:pt x="6146587" y="1232936"/>
                  <a:pt x="5973896" y="1288076"/>
                </a:cubicBezTo>
                <a:cubicBezTo>
                  <a:pt x="5801205" y="1343216"/>
                  <a:pt x="5606365" y="1270474"/>
                  <a:pt x="5392777" y="1288076"/>
                </a:cubicBezTo>
                <a:cubicBezTo>
                  <a:pt x="5179189" y="1305678"/>
                  <a:pt x="4997462" y="1245498"/>
                  <a:pt x="4625701" y="1288076"/>
                </a:cubicBezTo>
                <a:cubicBezTo>
                  <a:pt x="4253940" y="1330654"/>
                  <a:pt x="4405734" y="1248107"/>
                  <a:pt x="4230541" y="1288076"/>
                </a:cubicBezTo>
                <a:cubicBezTo>
                  <a:pt x="4055348" y="1328045"/>
                  <a:pt x="3958051" y="1247010"/>
                  <a:pt x="3835380" y="1288076"/>
                </a:cubicBezTo>
                <a:cubicBezTo>
                  <a:pt x="3712709" y="1329142"/>
                  <a:pt x="3461065" y="1268087"/>
                  <a:pt x="3254262" y="1288076"/>
                </a:cubicBezTo>
                <a:cubicBezTo>
                  <a:pt x="3047459" y="1308065"/>
                  <a:pt x="3046883" y="1251945"/>
                  <a:pt x="2952081" y="1288076"/>
                </a:cubicBezTo>
                <a:cubicBezTo>
                  <a:pt x="2857279" y="1324207"/>
                  <a:pt x="2739662" y="1268256"/>
                  <a:pt x="2556920" y="1288076"/>
                </a:cubicBezTo>
                <a:cubicBezTo>
                  <a:pt x="2374178" y="1307896"/>
                  <a:pt x="2380290" y="1260456"/>
                  <a:pt x="2254739" y="1288076"/>
                </a:cubicBezTo>
                <a:cubicBezTo>
                  <a:pt x="2129188" y="1315696"/>
                  <a:pt x="1738189" y="1254317"/>
                  <a:pt x="1487663" y="1288076"/>
                </a:cubicBezTo>
                <a:cubicBezTo>
                  <a:pt x="1237137" y="1321835"/>
                  <a:pt x="1180480" y="1242534"/>
                  <a:pt x="1092502" y="1288076"/>
                </a:cubicBezTo>
                <a:cubicBezTo>
                  <a:pt x="1004524" y="1333618"/>
                  <a:pt x="792576" y="1261003"/>
                  <a:pt x="511384" y="1288076"/>
                </a:cubicBezTo>
                <a:cubicBezTo>
                  <a:pt x="230192" y="1315149"/>
                  <a:pt x="150934" y="1249923"/>
                  <a:pt x="0" y="1288076"/>
                </a:cubicBezTo>
                <a:cubicBezTo>
                  <a:pt x="-39032" y="1112188"/>
                  <a:pt x="19259" y="942415"/>
                  <a:pt x="0" y="845837"/>
                </a:cubicBezTo>
                <a:cubicBezTo>
                  <a:pt x="-19259" y="749259"/>
                  <a:pt x="38874" y="501838"/>
                  <a:pt x="0" y="403597"/>
                </a:cubicBezTo>
                <a:cubicBezTo>
                  <a:pt x="-38874" y="305356"/>
                  <a:pt x="10261" y="125302"/>
                  <a:pt x="0" y="0"/>
                </a:cubicBezTo>
                <a:close/>
              </a:path>
              <a:path w="9297892" h="1288076" stroke="0" extrusionOk="0">
                <a:moveTo>
                  <a:pt x="0" y="0"/>
                </a:moveTo>
                <a:cubicBezTo>
                  <a:pt x="134465" y="-37810"/>
                  <a:pt x="242401" y="42357"/>
                  <a:pt x="395160" y="0"/>
                </a:cubicBezTo>
                <a:cubicBezTo>
                  <a:pt x="547919" y="-42357"/>
                  <a:pt x="927166" y="41585"/>
                  <a:pt x="1069258" y="0"/>
                </a:cubicBezTo>
                <a:cubicBezTo>
                  <a:pt x="1211350" y="-41585"/>
                  <a:pt x="1461497" y="11173"/>
                  <a:pt x="1743355" y="0"/>
                </a:cubicBezTo>
                <a:cubicBezTo>
                  <a:pt x="2025213" y="-11173"/>
                  <a:pt x="2075612" y="20905"/>
                  <a:pt x="2231494" y="0"/>
                </a:cubicBezTo>
                <a:cubicBezTo>
                  <a:pt x="2387376" y="-20905"/>
                  <a:pt x="2615455" y="28127"/>
                  <a:pt x="2719633" y="0"/>
                </a:cubicBezTo>
                <a:cubicBezTo>
                  <a:pt x="2823811" y="-28127"/>
                  <a:pt x="3168718" y="55873"/>
                  <a:pt x="3393731" y="0"/>
                </a:cubicBezTo>
                <a:cubicBezTo>
                  <a:pt x="3618744" y="-55873"/>
                  <a:pt x="3649189" y="44006"/>
                  <a:pt x="3881870" y="0"/>
                </a:cubicBezTo>
                <a:cubicBezTo>
                  <a:pt x="4114551" y="-44006"/>
                  <a:pt x="4300819" y="42963"/>
                  <a:pt x="4462988" y="0"/>
                </a:cubicBezTo>
                <a:cubicBezTo>
                  <a:pt x="4625157" y="-42963"/>
                  <a:pt x="4767593" y="64973"/>
                  <a:pt x="5044106" y="0"/>
                </a:cubicBezTo>
                <a:cubicBezTo>
                  <a:pt x="5320619" y="-64973"/>
                  <a:pt x="5464560" y="51084"/>
                  <a:pt x="5625225" y="0"/>
                </a:cubicBezTo>
                <a:cubicBezTo>
                  <a:pt x="5785890" y="-51084"/>
                  <a:pt x="5923020" y="22010"/>
                  <a:pt x="6206343" y="0"/>
                </a:cubicBezTo>
                <a:cubicBezTo>
                  <a:pt x="6489666" y="-22010"/>
                  <a:pt x="6513516" y="26836"/>
                  <a:pt x="6601503" y="0"/>
                </a:cubicBezTo>
                <a:cubicBezTo>
                  <a:pt x="6689490" y="-26836"/>
                  <a:pt x="6836346" y="31216"/>
                  <a:pt x="6903685" y="0"/>
                </a:cubicBezTo>
                <a:cubicBezTo>
                  <a:pt x="6971024" y="-31216"/>
                  <a:pt x="7278794" y="54396"/>
                  <a:pt x="7577782" y="0"/>
                </a:cubicBezTo>
                <a:cubicBezTo>
                  <a:pt x="7876770" y="-54396"/>
                  <a:pt x="8062255" y="80102"/>
                  <a:pt x="8344858" y="0"/>
                </a:cubicBezTo>
                <a:cubicBezTo>
                  <a:pt x="8627461" y="-80102"/>
                  <a:pt x="8872881" y="24523"/>
                  <a:pt x="9297892" y="0"/>
                </a:cubicBezTo>
                <a:cubicBezTo>
                  <a:pt x="9319437" y="81121"/>
                  <a:pt x="9271505" y="224322"/>
                  <a:pt x="9297892" y="390716"/>
                </a:cubicBezTo>
                <a:cubicBezTo>
                  <a:pt x="9324279" y="557110"/>
                  <a:pt x="9293528" y="599211"/>
                  <a:pt x="9297892" y="781433"/>
                </a:cubicBezTo>
                <a:cubicBezTo>
                  <a:pt x="9302256" y="963655"/>
                  <a:pt x="9294721" y="1179904"/>
                  <a:pt x="9297892" y="1288076"/>
                </a:cubicBezTo>
                <a:cubicBezTo>
                  <a:pt x="9214446" y="1304738"/>
                  <a:pt x="8992990" y="1258197"/>
                  <a:pt x="8902732" y="1288076"/>
                </a:cubicBezTo>
                <a:cubicBezTo>
                  <a:pt x="8812474" y="1317955"/>
                  <a:pt x="8497385" y="1276280"/>
                  <a:pt x="8135656" y="1288076"/>
                </a:cubicBezTo>
                <a:cubicBezTo>
                  <a:pt x="7773927" y="1299872"/>
                  <a:pt x="7929858" y="1274615"/>
                  <a:pt x="7833474" y="1288076"/>
                </a:cubicBezTo>
                <a:cubicBezTo>
                  <a:pt x="7737090" y="1301537"/>
                  <a:pt x="7347949" y="1211896"/>
                  <a:pt x="7066398" y="1288076"/>
                </a:cubicBezTo>
                <a:cubicBezTo>
                  <a:pt x="6784847" y="1364256"/>
                  <a:pt x="6643089" y="1238516"/>
                  <a:pt x="6392301" y="1288076"/>
                </a:cubicBezTo>
                <a:cubicBezTo>
                  <a:pt x="6141513" y="1337636"/>
                  <a:pt x="5872360" y="1207122"/>
                  <a:pt x="5625225" y="1288076"/>
                </a:cubicBezTo>
                <a:cubicBezTo>
                  <a:pt x="5378090" y="1369030"/>
                  <a:pt x="5363721" y="1288040"/>
                  <a:pt x="5230064" y="1288076"/>
                </a:cubicBezTo>
                <a:cubicBezTo>
                  <a:pt x="5096407" y="1288112"/>
                  <a:pt x="4622659" y="1226784"/>
                  <a:pt x="4462988" y="1288076"/>
                </a:cubicBezTo>
                <a:cubicBezTo>
                  <a:pt x="4303317" y="1349368"/>
                  <a:pt x="4074335" y="1285949"/>
                  <a:pt x="3974849" y="1288076"/>
                </a:cubicBezTo>
                <a:cubicBezTo>
                  <a:pt x="3875363" y="1290203"/>
                  <a:pt x="3556981" y="1223436"/>
                  <a:pt x="3393731" y="1288076"/>
                </a:cubicBezTo>
                <a:cubicBezTo>
                  <a:pt x="3230481" y="1352716"/>
                  <a:pt x="2995877" y="1244639"/>
                  <a:pt x="2719633" y="1288076"/>
                </a:cubicBezTo>
                <a:cubicBezTo>
                  <a:pt x="2443389" y="1331513"/>
                  <a:pt x="2196409" y="1215173"/>
                  <a:pt x="2045536" y="1288076"/>
                </a:cubicBezTo>
                <a:cubicBezTo>
                  <a:pt x="1894663" y="1360979"/>
                  <a:pt x="1464153" y="1215706"/>
                  <a:pt x="1278460" y="1288076"/>
                </a:cubicBezTo>
                <a:cubicBezTo>
                  <a:pt x="1092767" y="1360446"/>
                  <a:pt x="1119528" y="1282846"/>
                  <a:pt x="976279" y="1288076"/>
                </a:cubicBezTo>
                <a:cubicBezTo>
                  <a:pt x="833030" y="1293306"/>
                  <a:pt x="243649" y="1232892"/>
                  <a:pt x="0" y="1288076"/>
                </a:cubicBezTo>
                <a:cubicBezTo>
                  <a:pt x="-30027" y="1135877"/>
                  <a:pt x="41754" y="1024114"/>
                  <a:pt x="0" y="897360"/>
                </a:cubicBezTo>
                <a:cubicBezTo>
                  <a:pt x="-41754" y="770606"/>
                  <a:pt x="26209" y="663783"/>
                  <a:pt x="0" y="442239"/>
                </a:cubicBezTo>
                <a:cubicBezTo>
                  <a:pt x="-26209" y="220695"/>
                  <a:pt x="51397" y="138628"/>
                  <a:pt x="0" y="0"/>
                </a:cubicBezTo>
                <a:close/>
              </a:path>
            </a:pathLst>
          </a:custGeom>
          <a:gradFill>
            <a:gsLst>
              <a:gs pos="18000">
                <a:schemeClr val="tx1">
                  <a:lumMod val="75000"/>
                  <a:lumOff val="25000"/>
                </a:schemeClr>
              </a:gs>
              <a:gs pos="100000">
                <a:srgbClr val="FF0000"/>
              </a:gs>
            </a:gsLst>
            <a:lin ang="5400000" scaled="1"/>
          </a:gra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5848902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bg1"/>
                </a:solidFill>
                <a:latin typeface="Rockwell Extra Bold" panose="02060903040505020403" pitchFamily="18" charset="0"/>
                <a:cs typeface="Arial" panose="020B0604020202020204" pitchFamily="34" charset="0"/>
              </a:rPr>
              <a:t>I am grateful to Allah and my family for their support, and to my supervisor, Jan Krasniewicz, for his invaluable guidance throughout this project.| https://github.com/TamerHussen/Final-Year-Project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C7FD3E-34AB-B1E1-06B8-B6A30E4A896E}"/>
              </a:ext>
            </a:extLst>
          </p:cNvPr>
          <p:cNvSpPr/>
          <p:nvPr/>
        </p:nvSpPr>
        <p:spPr>
          <a:xfrm>
            <a:off x="217577" y="1643197"/>
            <a:ext cx="5031348" cy="1380051"/>
          </a:xfrm>
          <a:custGeom>
            <a:avLst/>
            <a:gdLst>
              <a:gd name="csX0" fmla="*/ 0 w 5031348"/>
              <a:gd name="csY0" fmla="*/ 0 h 1380051"/>
              <a:gd name="csX1" fmla="*/ 508725 w 5031348"/>
              <a:gd name="csY1" fmla="*/ 0 h 1380051"/>
              <a:gd name="csX2" fmla="*/ 916823 w 5031348"/>
              <a:gd name="csY2" fmla="*/ 0 h 1380051"/>
              <a:gd name="csX3" fmla="*/ 1576489 w 5031348"/>
              <a:gd name="csY3" fmla="*/ 0 h 1380051"/>
              <a:gd name="csX4" fmla="*/ 2085214 w 5031348"/>
              <a:gd name="csY4" fmla="*/ 0 h 1380051"/>
              <a:gd name="csX5" fmla="*/ 2593939 w 5031348"/>
              <a:gd name="csY5" fmla="*/ 0 h 1380051"/>
              <a:gd name="csX6" fmla="*/ 3253605 w 5031348"/>
              <a:gd name="csY6" fmla="*/ 0 h 1380051"/>
              <a:gd name="csX7" fmla="*/ 3712017 w 5031348"/>
              <a:gd name="csY7" fmla="*/ 0 h 1380051"/>
              <a:gd name="csX8" fmla="*/ 4371682 w 5031348"/>
              <a:gd name="csY8" fmla="*/ 0 h 1380051"/>
              <a:gd name="csX9" fmla="*/ 5031348 w 5031348"/>
              <a:gd name="csY9" fmla="*/ 0 h 1380051"/>
              <a:gd name="csX10" fmla="*/ 5031348 w 5031348"/>
              <a:gd name="csY10" fmla="*/ 460017 h 1380051"/>
              <a:gd name="csX11" fmla="*/ 5031348 w 5031348"/>
              <a:gd name="csY11" fmla="*/ 920034 h 1380051"/>
              <a:gd name="csX12" fmla="*/ 5031348 w 5031348"/>
              <a:gd name="csY12" fmla="*/ 1380051 h 1380051"/>
              <a:gd name="csX13" fmla="*/ 4623250 w 5031348"/>
              <a:gd name="csY13" fmla="*/ 1380051 h 1380051"/>
              <a:gd name="csX14" fmla="*/ 3963584 w 5031348"/>
              <a:gd name="csY14" fmla="*/ 1380051 h 1380051"/>
              <a:gd name="csX15" fmla="*/ 3505172 w 5031348"/>
              <a:gd name="csY15" fmla="*/ 1380051 h 1380051"/>
              <a:gd name="csX16" fmla="*/ 2946134 w 5031348"/>
              <a:gd name="csY16" fmla="*/ 1380051 h 1380051"/>
              <a:gd name="csX17" fmla="*/ 2286468 w 5031348"/>
              <a:gd name="csY17" fmla="*/ 1380051 h 1380051"/>
              <a:gd name="csX18" fmla="*/ 1727429 w 5031348"/>
              <a:gd name="csY18" fmla="*/ 1380051 h 1380051"/>
              <a:gd name="csX19" fmla="*/ 1319331 w 5031348"/>
              <a:gd name="csY19" fmla="*/ 1380051 h 1380051"/>
              <a:gd name="csX20" fmla="*/ 860920 w 5031348"/>
              <a:gd name="csY20" fmla="*/ 1380051 h 1380051"/>
              <a:gd name="csX21" fmla="*/ 0 w 5031348"/>
              <a:gd name="csY21" fmla="*/ 1380051 h 1380051"/>
              <a:gd name="csX22" fmla="*/ 0 w 5031348"/>
              <a:gd name="csY22" fmla="*/ 920034 h 1380051"/>
              <a:gd name="csX23" fmla="*/ 0 w 5031348"/>
              <a:gd name="csY23" fmla="*/ 460017 h 1380051"/>
              <a:gd name="csX24" fmla="*/ 0 w 5031348"/>
              <a:gd name="csY24" fmla="*/ 0 h 13800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5031348" h="1380051" extrusionOk="0">
                <a:moveTo>
                  <a:pt x="0" y="0"/>
                </a:moveTo>
                <a:cubicBezTo>
                  <a:pt x="194153" y="-55435"/>
                  <a:pt x="386419" y="35312"/>
                  <a:pt x="508725" y="0"/>
                </a:cubicBezTo>
                <a:cubicBezTo>
                  <a:pt x="631031" y="-35312"/>
                  <a:pt x="755939" y="31839"/>
                  <a:pt x="916823" y="0"/>
                </a:cubicBezTo>
                <a:cubicBezTo>
                  <a:pt x="1077707" y="-31839"/>
                  <a:pt x="1397269" y="28932"/>
                  <a:pt x="1576489" y="0"/>
                </a:cubicBezTo>
                <a:cubicBezTo>
                  <a:pt x="1755709" y="-28932"/>
                  <a:pt x="1831623" y="6588"/>
                  <a:pt x="2085214" y="0"/>
                </a:cubicBezTo>
                <a:cubicBezTo>
                  <a:pt x="2338805" y="-6588"/>
                  <a:pt x="2394095" y="44629"/>
                  <a:pt x="2593939" y="0"/>
                </a:cubicBezTo>
                <a:cubicBezTo>
                  <a:pt x="2793784" y="-44629"/>
                  <a:pt x="3081377" y="63030"/>
                  <a:pt x="3253605" y="0"/>
                </a:cubicBezTo>
                <a:cubicBezTo>
                  <a:pt x="3425833" y="-63030"/>
                  <a:pt x="3490894" y="53706"/>
                  <a:pt x="3712017" y="0"/>
                </a:cubicBezTo>
                <a:cubicBezTo>
                  <a:pt x="3933140" y="-53706"/>
                  <a:pt x="4086458" y="73125"/>
                  <a:pt x="4371682" y="0"/>
                </a:cubicBezTo>
                <a:cubicBezTo>
                  <a:pt x="4656907" y="-73125"/>
                  <a:pt x="4800442" y="55045"/>
                  <a:pt x="5031348" y="0"/>
                </a:cubicBezTo>
                <a:cubicBezTo>
                  <a:pt x="5081902" y="155509"/>
                  <a:pt x="4993658" y="358326"/>
                  <a:pt x="5031348" y="460017"/>
                </a:cubicBezTo>
                <a:cubicBezTo>
                  <a:pt x="5069038" y="561708"/>
                  <a:pt x="5001516" y="819073"/>
                  <a:pt x="5031348" y="920034"/>
                </a:cubicBezTo>
                <a:cubicBezTo>
                  <a:pt x="5061180" y="1020995"/>
                  <a:pt x="4982967" y="1218185"/>
                  <a:pt x="5031348" y="1380051"/>
                </a:cubicBezTo>
                <a:cubicBezTo>
                  <a:pt x="4857870" y="1404074"/>
                  <a:pt x="4740397" y="1349676"/>
                  <a:pt x="4623250" y="1380051"/>
                </a:cubicBezTo>
                <a:cubicBezTo>
                  <a:pt x="4506103" y="1410426"/>
                  <a:pt x="4112491" y="1363184"/>
                  <a:pt x="3963584" y="1380051"/>
                </a:cubicBezTo>
                <a:cubicBezTo>
                  <a:pt x="3814677" y="1396918"/>
                  <a:pt x="3615215" y="1365090"/>
                  <a:pt x="3505172" y="1380051"/>
                </a:cubicBezTo>
                <a:cubicBezTo>
                  <a:pt x="3395129" y="1395012"/>
                  <a:pt x="3160121" y="1321886"/>
                  <a:pt x="2946134" y="1380051"/>
                </a:cubicBezTo>
                <a:cubicBezTo>
                  <a:pt x="2732147" y="1438216"/>
                  <a:pt x="2556982" y="1338393"/>
                  <a:pt x="2286468" y="1380051"/>
                </a:cubicBezTo>
                <a:cubicBezTo>
                  <a:pt x="2015954" y="1421709"/>
                  <a:pt x="1847256" y="1333479"/>
                  <a:pt x="1727429" y="1380051"/>
                </a:cubicBezTo>
                <a:cubicBezTo>
                  <a:pt x="1607602" y="1426623"/>
                  <a:pt x="1436508" y="1363294"/>
                  <a:pt x="1319331" y="1380051"/>
                </a:cubicBezTo>
                <a:cubicBezTo>
                  <a:pt x="1202154" y="1396808"/>
                  <a:pt x="1023621" y="1351191"/>
                  <a:pt x="860920" y="1380051"/>
                </a:cubicBezTo>
                <a:cubicBezTo>
                  <a:pt x="698219" y="1408911"/>
                  <a:pt x="356470" y="1370265"/>
                  <a:pt x="0" y="1380051"/>
                </a:cubicBezTo>
                <a:cubicBezTo>
                  <a:pt x="-44255" y="1285588"/>
                  <a:pt x="18202" y="1147015"/>
                  <a:pt x="0" y="920034"/>
                </a:cubicBezTo>
                <a:cubicBezTo>
                  <a:pt x="-18202" y="693053"/>
                  <a:pt x="26775" y="604943"/>
                  <a:pt x="0" y="460017"/>
                </a:cubicBezTo>
                <a:cubicBezTo>
                  <a:pt x="-26775" y="315091"/>
                  <a:pt x="329" y="192528"/>
                  <a:pt x="0" y="0"/>
                </a:cubicBezTo>
                <a:close/>
              </a:path>
            </a:pathLst>
          </a:custGeom>
          <a:noFill/>
          <a:ln w="38100" cap="flat" cmpd="sng" algn="ctr">
            <a:gradFill>
              <a:gsLst>
                <a:gs pos="0">
                  <a:srgbClr val="C00000"/>
                </a:gs>
                <a:gs pos="23852">
                  <a:srgbClr val="8B0C06"/>
                </a:gs>
                <a:gs pos="67000">
                  <a:srgbClr val="2A2111"/>
                </a:gs>
                <a:gs pos="100000">
                  <a:srgbClr val="0A2814"/>
                </a:gs>
              </a:gsLst>
              <a:lin ang="5400000" scaled="1"/>
            </a:gra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0A1F44"/>
                </a:solidFill>
              </a:defRPr>
            </a:pPr>
            <a:r>
              <a:rPr lang="en-GB" sz="2000" u="sng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Introduction &amp; Background</a:t>
            </a:r>
          </a:p>
          <a:p>
            <a:pPr marL="285750" indent="-285750">
              <a:buFont typeface="Arial" panose="020B0604020202020204" pitchFamily="34" charset="0"/>
              <a:buChar char="•"/>
              <a:defRPr sz="2800" b="1">
                <a:solidFill>
                  <a:srgbClr val="0A1F44"/>
                </a:solidFill>
              </a:defRPr>
            </a:pPr>
            <a:r>
              <a:rPr lang="en-GB" sz="1400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Traditional NPCs rely on static scripts (FSM, Behaviour Trees).</a:t>
            </a:r>
          </a:p>
          <a:p>
            <a:pPr marL="285750" indent="-285750">
              <a:buFont typeface="Arial" panose="020B0604020202020204" pitchFamily="34" charset="0"/>
              <a:buChar char="•"/>
              <a:defRPr sz="2800" b="1">
                <a:solidFill>
                  <a:srgbClr val="0A1F44"/>
                </a:solidFill>
              </a:defRPr>
            </a:pPr>
            <a:r>
              <a:rPr lang="en-GB" sz="1400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Scripted AI struggles to adapt to unpredictable player strategies.</a:t>
            </a:r>
          </a:p>
          <a:p>
            <a:pPr marL="285750" indent="-285750">
              <a:buFont typeface="Arial" panose="020B0604020202020204" pitchFamily="34" charset="0"/>
              <a:buChar char="•"/>
              <a:defRPr sz="2800" b="1">
                <a:solidFill>
                  <a:srgbClr val="0A1F44"/>
                </a:solidFill>
              </a:defRPr>
            </a:pPr>
            <a:r>
              <a:rPr lang="en-GB" sz="1400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This project explores Reinforcement Learning (RL) via Unity ML-Agents to create dynamic, believable, and adaptable AI.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3CEC3A-E351-F164-E3D6-C30A6E531DF9}"/>
              </a:ext>
            </a:extLst>
          </p:cNvPr>
          <p:cNvSpPr/>
          <p:nvPr/>
        </p:nvSpPr>
        <p:spPr>
          <a:xfrm>
            <a:off x="217575" y="3455458"/>
            <a:ext cx="3675079" cy="1553118"/>
          </a:xfrm>
          <a:custGeom>
            <a:avLst/>
            <a:gdLst>
              <a:gd name="csX0" fmla="*/ 0 w 3675079"/>
              <a:gd name="csY0" fmla="*/ 0 h 1553118"/>
              <a:gd name="csX1" fmla="*/ 488260 w 3675079"/>
              <a:gd name="csY1" fmla="*/ 0 h 1553118"/>
              <a:gd name="csX2" fmla="*/ 1013272 w 3675079"/>
              <a:gd name="csY2" fmla="*/ 0 h 1553118"/>
              <a:gd name="csX3" fmla="*/ 1575034 w 3675079"/>
              <a:gd name="csY3" fmla="*/ 0 h 1553118"/>
              <a:gd name="csX4" fmla="*/ 2026544 w 3675079"/>
              <a:gd name="csY4" fmla="*/ 0 h 1553118"/>
              <a:gd name="csX5" fmla="*/ 2514804 w 3675079"/>
              <a:gd name="csY5" fmla="*/ 0 h 1553118"/>
              <a:gd name="csX6" fmla="*/ 2929563 w 3675079"/>
              <a:gd name="csY6" fmla="*/ 0 h 1553118"/>
              <a:gd name="csX7" fmla="*/ 3675079 w 3675079"/>
              <a:gd name="csY7" fmla="*/ 0 h 1553118"/>
              <a:gd name="csX8" fmla="*/ 3675079 w 3675079"/>
              <a:gd name="csY8" fmla="*/ 471112 h 1553118"/>
              <a:gd name="csX9" fmla="*/ 3675079 w 3675079"/>
              <a:gd name="csY9" fmla="*/ 957756 h 1553118"/>
              <a:gd name="csX10" fmla="*/ 3675079 w 3675079"/>
              <a:gd name="csY10" fmla="*/ 1553118 h 1553118"/>
              <a:gd name="csX11" fmla="*/ 3223569 w 3675079"/>
              <a:gd name="csY11" fmla="*/ 1553118 h 1553118"/>
              <a:gd name="csX12" fmla="*/ 2625056 w 3675079"/>
              <a:gd name="csY12" fmla="*/ 1553118 h 1553118"/>
              <a:gd name="csX13" fmla="*/ 2100045 w 3675079"/>
              <a:gd name="csY13" fmla="*/ 1553118 h 1553118"/>
              <a:gd name="csX14" fmla="*/ 1501532 w 3675079"/>
              <a:gd name="csY14" fmla="*/ 1553118 h 1553118"/>
              <a:gd name="csX15" fmla="*/ 976521 w 3675079"/>
              <a:gd name="csY15" fmla="*/ 1553118 h 1553118"/>
              <a:gd name="csX16" fmla="*/ 451510 w 3675079"/>
              <a:gd name="csY16" fmla="*/ 1553118 h 1553118"/>
              <a:gd name="csX17" fmla="*/ 0 w 3675079"/>
              <a:gd name="csY17" fmla="*/ 1553118 h 1553118"/>
              <a:gd name="csX18" fmla="*/ 0 w 3675079"/>
              <a:gd name="csY18" fmla="*/ 1019881 h 1553118"/>
              <a:gd name="csX19" fmla="*/ 0 w 3675079"/>
              <a:gd name="csY19" fmla="*/ 517706 h 1553118"/>
              <a:gd name="csX20" fmla="*/ 0 w 3675079"/>
              <a:gd name="csY20" fmla="*/ 0 h 15531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675079" h="1553118" extrusionOk="0">
                <a:moveTo>
                  <a:pt x="0" y="0"/>
                </a:moveTo>
                <a:cubicBezTo>
                  <a:pt x="173418" y="-13349"/>
                  <a:pt x="300453" y="47927"/>
                  <a:pt x="488260" y="0"/>
                </a:cubicBezTo>
                <a:cubicBezTo>
                  <a:pt x="676067" y="-47927"/>
                  <a:pt x="841037" y="19182"/>
                  <a:pt x="1013272" y="0"/>
                </a:cubicBezTo>
                <a:cubicBezTo>
                  <a:pt x="1185507" y="-19182"/>
                  <a:pt x="1440948" y="35380"/>
                  <a:pt x="1575034" y="0"/>
                </a:cubicBezTo>
                <a:cubicBezTo>
                  <a:pt x="1709120" y="-35380"/>
                  <a:pt x="1857183" y="19753"/>
                  <a:pt x="2026544" y="0"/>
                </a:cubicBezTo>
                <a:cubicBezTo>
                  <a:pt x="2195905" y="-19753"/>
                  <a:pt x="2271352" y="16596"/>
                  <a:pt x="2514804" y="0"/>
                </a:cubicBezTo>
                <a:cubicBezTo>
                  <a:pt x="2758256" y="-16596"/>
                  <a:pt x="2772590" y="7460"/>
                  <a:pt x="2929563" y="0"/>
                </a:cubicBezTo>
                <a:cubicBezTo>
                  <a:pt x="3086536" y="-7460"/>
                  <a:pt x="3479379" y="81229"/>
                  <a:pt x="3675079" y="0"/>
                </a:cubicBezTo>
                <a:cubicBezTo>
                  <a:pt x="3718380" y="211039"/>
                  <a:pt x="3642106" y="301565"/>
                  <a:pt x="3675079" y="471112"/>
                </a:cubicBezTo>
                <a:cubicBezTo>
                  <a:pt x="3708052" y="640659"/>
                  <a:pt x="3643430" y="734563"/>
                  <a:pt x="3675079" y="957756"/>
                </a:cubicBezTo>
                <a:cubicBezTo>
                  <a:pt x="3706728" y="1180949"/>
                  <a:pt x="3633255" y="1349825"/>
                  <a:pt x="3675079" y="1553118"/>
                </a:cubicBezTo>
                <a:cubicBezTo>
                  <a:pt x="3498385" y="1563581"/>
                  <a:pt x="3421693" y="1549069"/>
                  <a:pt x="3223569" y="1553118"/>
                </a:cubicBezTo>
                <a:cubicBezTo>
                  <a:pt x="3025445" y="1557167"/>
                  <a:pt x="2900919" y="1486664"/>
                  <a:pt x="2625056" y="1553118"/>
                </a:cubicBezTo>
                <a:cubicBezTo>
                  <a:pt x="2349193" y="1619572"/>
                  <a:pt x="2247147" y="1544442"/>
                  <a:pt x="2100045" y="1553118"/>
                </a:cubicBezTo>
                <a:cubicBezTo>
                  <a:pt x="1952943" y="1561794"/>
                  <a:pt x="1736391" y="1488562"/>
                  <a:pt x="1501532" y="1553118"/>
                </a:cubicBezTo>
                <a:cubicBezTo>
                  <a:pt x="1266673" y="1617674"/>
                  <a:pt x="1167171" y="1518806"/>
                  <a:pt x="976521" y="1553118"/>
                </a:cubicBezTo>
                <a:cubicBezTo>
                  <a:pt x="785871" y="1587430"/>
                  <a:pt x="573819" y="1521150"/>
                  <a:pt x="451510" y="1553118"/>
                </a:cubicBezTo>
                <a:cubicBezTo>
                  <a:pt x="329201" y="1585086"/>
                  <a:pt x="139107" y="1536742"/>
                  <a:pt x="0" y="1553118"/>
                </a:cubicBezTo>
                <a:cubicBezTo>
                  <a:pt x="-25686" y="1322144"/>
                  <a:pt x="49278" y="1252463"/>
                  <a:pt x="0" y="1019881"/>
                </a:cubicBezTo>
                <a:cubicBezTo>
                  <a:pt x="-49278" y="787299"/>
                  <a:pt x="55911" y="669326"/>
                  <a:pt x="0" y="517706"/>
                </a:cubicBezTo>
                <a:cubicBezTo>
                  <a:pt x="-55911" y="366086"/>
                  <a:pt x="28754" y="219787"/>
                  <a:pt x="0" y="0"/>
                </a:cubicBezTo>
                <a:close/>
              </a:path>
            </a:pathLst>
          </a:custGeom>
          <a:noFill/>
          <a:ln w="38100" cap="flat" cmpd="sng" algn="ctr">
            <a:gradFill>
              <a:gsLst>
                <a:gs pos="0">
                  <a:srgbClr val="C00000"/>
                </a:gs>
                <a:gs pos="23852">
                  <a:srgbClr val="8B0C06"/>
                </a:gs>
                <a:gs pos="67000">
                  <a:srgbClr val="2A2111"/>
                </a:gs>
                <a:gs pos="100000">
                  <a:srgbClr val="0A2814"/>
                </a:gs>
              </a:gsLst>
              <a:lin ang="5400000" scaled="1"/>
            </a:gra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244436556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 sz="2400" b="0">
                <a:solidFill>
                  <a:srgbClr val="3C3C3C"/>
                </a:solidFill>
              </a:defRPr>
            </a:pPr>
            <a:r>
              <a:rPr lang="en-GB" sz="2000" b="1" u="sng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  <a:defRPr sz="2400" b="0">
                <a:solidFill>
                  <a:srgbClr val="3C3C3C"/>
                </a:solidFill>
              </a:defRPr>
            </a:pPr>
            <a:r>
              <a:rPr lang="en-GB" sz="1400" b="1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Scripting multi-sensory AI (vision, sound, scent) causes massive developer overhead.</a:t>
            </a:r>
          </a:p>
          <a:p>
            <a:pPr marL="285750" indent="-285750">
              <a:buFont typeface="Arial" panose="020B0604020202020204" pitchFamily="34" charset="0"/>
              <a:buChar char="•"/>
              <a:defRPr sz="2400" b="0">
                <a:solidFill>
                  <a:srgbClr val="3C3C3C"/>
                </a:solidFill>
              </a:defRPr>
            </a:pPr>
            <a:r>
              <a:rPr lang="en-GB" sz="1400" b="1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Scripted agents cannot dynamically adjust their tactics when players break line-of-sight or use unconventional evasion methods.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656E95-E7D7-D772-F2CA-F10192352425}"/>
              </a:ext>
            </a:extLst>
          </p:cNvPr>
          <p:cNvSpPr/>
          <p:nvPr/>
        </p:nvSpPr>
        <p:spPr>
          <a:xfrm>
            <a:off x="185800" y="7831147"/>
            <a:ext cx="3738628" cy="1908000"/>
          </a:xfrm>
          <a:custGeom>
            <a:avLst/>
            <a:gdLst>
              <a:gd name="csX0" fmla="*/ 0 w 3738628"/>
              <a:gd name="csY0" fmla="*/ 0 h 1908000"/>
              <a:gd name="csX1" fmla="*/ 608862 w 3738628"/>
              <a:gd name="csY1" fmla="*/ 0 h 1908000"/>
              <a:gd name="csX2" fmla="*/ 1068179 w 3738628"/>
              <a:gd name="csY2" fmla="*/ 0 h 1908000"/>
              <a:gd name="csX3" fmla="*/ 1639655 w 3738628"/>
              <a:gd name="csY3" fmla="*/ 0 h 1908000"/>
              <a:gd name="csX4" fmla="*/ 2061586 w 3738628"/>
              <a:gd name="csY4" fmla="*/ 0 h 1908000"/>
              <a:gd name="csX5" fmla="*/ 2670449 w 3738628"/>
              <a:gd name="csY5" fmla="*/ 0 h 1908000"/>
              <a:gd name="csX6" fmla="*/ 3167152 w 3738628"/>
              <a:gd name="csY6" fmla="*/ 0 h 1908000"/>
              <a:gd name="csX7" fmla="*/ 3738628 w 3738628"/>
              <a:gd name="csY7" fmla="*/ 0 h 1908000"/>
              <a:gd name="csX8" fmla="*/ 3738628 w 3738628"/>
              <a:gd name="csY8" fmla="*/ 457920 h 1908000"/>
              <a:gd name="csX9" fmla="*/ 3738628 w 3738628"/>
              <a:gd name="csY9" fmla="*/ 934920 h 1908000"/>
              <a:gd name="csX10" fmla="*/ 3738628 w 3738628"/>
              <a:gd name="csY10" fmla="*/ 1392840 h 1908000"/>
              <a:gd name="csX11" fmla="*/ 3738628 w 3738628"/>
              <a:gd name="csY11" fmla="*/ 1908000 h 1908000"/>
              <a:gd name="csX12" fmla="*/ 3167152 w 3738628"/>
              <a:gd name="csY12" fmla="*/ 1908000 h 1908000"/>
              <a:gd name="csX13" fmla="*/ 2707835 w 3738628"/>
              <a:gd name="csY13" fmla="*/ 1908000 h 1908000"/>
              <a:gd name="csX14" fmla="*/ 2136359 w 3738628"/>
              <a:gd name="csY14" fmla="*/ 1908000 h 1908000"/>
              <a:gd name="csX15" fmla="*/ 1564883 w 3738628"/>
              <a:gd name="csY15" fmla="*/ 1908000 h 1908000"/>
              <a:gd name="csX16" fmla="*/ 1068179 w 3738628"/>
              <a:gd name="csY16" fmla="*/ 1908000 h 1908000"/>
              <a:gd name="csX17" fmla="*/ 496703 w 3738628"/>
              <a:gd name="csY17" fmla="*/ 1908000 h 1908000"/>
              <a:gd name="csX18" fmla="*/ 0 w 3738628"/>
              <a:gd name="csY18" fmla="*/ 1908000 h 1908000"/>
              <a:gd name="csX19" fmla="*/ 0 w 3738628"/>
              <a:gd name="csY19" fmla="*/ 1411920 h 1908000"/>
              <a:gd name="csX20" fmla="*/ 0 w 3738628"/>
              <a:gd name="csY20" fmla="*/ 954000 h 1908000"/>
              <a:gd name="csX21" fmla="*/ 0 w 3738628"/>
              <a:gd name="csY21" fmla="*/ 515160 h 1908000"/>
              <a:gd name="csX22" fmla="*/ 0 w 3738628"/>
              <a:gd name="csY22" fmla="*/ 0 h 190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738628" h="1908000" extrusionOk="0">
                <a:moveTo>
                  <a:pt x="0" y="0"/>
                </a:moveTo>
                <a:cubicBezTo>
                  <a:pt x="241906" y="-66009"/>
                  <a:pt x="306500" y="60851"/>
                  <a:pt x="608862" y="0"/>
                </a:cubicBezTo>
                <a:cubicBezTo>
                  <a:pt x="911224" y="-60851"/>
                  <a:pt x="877492" y="12786"/>
                  <a:pt x="1068179" y="0"/>
                </a:cubicBezTo>
                <a:cubicBezTo>
                  <a:pt x="1258866" y="-12786"/>
                  <a:pt x="1362911" y="47650"/>
                  <a:pt x="1639655" y="0"/>
                </a:cubicBezTo>
                <a:cubicBezTo>
                  <a:pt x="1916399" y="-47650"/>
                  <a:pt x="1902953" y="39906"/>
                  <a:pt x="2061586" y="0"/>
                </a:cubicBezTo>
                <a:cubicBezTo>
                  <a:pt x="2220219" y="-39906"/>
                  <a:pt x="2426170" y="62505"/>
                  <a:pt x="2670449" y="0"/>
                </a:cubicBezTo>
                <a:cubicBezTo>
                  <a:pt x="2914728" y="-62505"/>
                  <a:pt x="2923250" y="14141"/>
                  <a:pt x="3167152" y="0"/>
                </a:cubicBezTo>
                <a:cubicBezTo>
                  <a:pt x="3411054" y="-14141"/>
                  <a:pt x="3598412" y="50690"/>
                  <a:pt x="3738628" y="0"/>
                </a:cubicBezTo>
                <a:cubicBezTo>
                  <a:pt x="3786327" y="167348"/>
                  <a:pt x="3730240" y="304953"/>
                  <a:pt x="3738628" y="457920"/>
                </a:cubicBezTo>
                <a:cubicBezTo>
                  <a:pt x="3747016" y="610887"/>
                  <a:pt x="3735359" y="798303"/>
                  <a:pt x="3738628" y="934920"/>
                </a:cubicBezTo>
                <a:cubicBezTo>
                  <a:pt x="3741897" y="1071537"/>
                  <a:pt x="3729104" y="1185524"/>
                  <a:pt x="3738628" y="1392840"/>
                </a:cubicBezTo>
                <a:cubicBezTo>
                  <a:pt x="3748152" y="1600156"/>
                  <a:pt x="3738299" y="1675182"/>
                  <a:pt x="3738628" y="1908000"/>
                </a:cubicBezTo>
                <a:cubicBezTo>
                  <a:pt x="3550593" y="1930360"/>
                  <a:pt x="3393829" y="1863977"/>
                  <a:pt x="3167152" y="1908000"/>
                </a:cubicBezTo>
                <a:cubicBezTo>
                  <a:pt x="2940475" y="1952023"/>
                  <a:pt x="2865222" y="1879063"/>
                  <a:pt x="2707835" y="1908000"/>
                </a:cubicBezTo>
                <a:cubicBezTo>
                  <a:pt x="2550448" y="1936937"/>
                  <a:pt x="2332443" y="1889330"/>
                  <a:pt x="2136359" y="1908000"/>
                </a:cubicBezTo>
                <a:cubicBezTo>
                  <a:pt x="1940275" y="1926670"/>
                  <a:pt x="1692114" y="1881552"/>
                  <a:pt x="1564883" y="1908000"/>
                </a:cubicBezTo>
                <a:cubicBezTo>
                  <a:pt x="1437652" y="1934448"/>
                  <a:pt x="1178934" y="1866221"/>
                  <a:pt x="1068179" y="1908000"/>
                </a:cubicBezTo>
                <a:cubicBezTo>
                  <a:pt x="957424" y="1949779"/>
                  <a:pt x="750657" y="1907385"/>
                  <a:pt x="496703" y="1908000"/>
                </a:cubicBezTo>
                <a:cubicBezTo>
                  <a:pt x="242749" y="1908615"/>
                  <a:pt x="244653" y="1848761"/>
                  <a:pt x="0" y="1908000"/>
                </a:cubicBezTo>
                <a:cubicBezTo>
                  <a:pt x="-24601" y="1743759"/>
                  <a:pt x="37478" y="1627509"/>
                  <a:pt x="0" y="1411920"/>
                </a:cubicBezTo>
                <a:cubicBezTo>
                  <a:pt x="-37478" y="1196331"/>
                  <a:pt x="51064" y="1107486"/>
                  <a:pt x="0" y="954000"/>
                </a:cubicBezTo>
                <a:cubicBezTo>
                  <a:pt x="-51064" y="800514"/>
                  <a:pt x="17642" y="664070"/>
                  <a:pt x="0" y="515160"/>
                </a:cubicBezTo>
                <a:cubicBezTo>
                  <a:pt x="-17642" y="366250"/>
                  <a:pt x="27275" y="167926"/>
                  <a:pt x="0" y="0"/>
                </a:cubicBezTo>
                <a:close/>
              </a:path>
            </a:pathLst>
          </a:custGeom>
          <a:noFill/>
          <a:ln w="38100" cap="flat" cmpd="sng" algn="ctr">
            <a:gradFill>
              <a:gsLst>
                <a:gs pos="0">
                  <a:srgbClr val="C00000"/>
                </a:gs>
                <a:gs pos="23852">
                  <a:srgbClr val="8B0C06"/>
                </a:gs>
                <a:gs pos="67000">
                  <a:srgbClr val="2A2111"/>
                </a:gs>
                <a:gs pos="100000">
                  <a:srgbClr val="0A2814"/>
                </a:gs>
              </a:gsLst>
              <a:lin ang="5400000" scaled="1"/>
            </a:gra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275799597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GB" sz="2000" b="1" u="sng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Aims &amp; Objectives</a:t>
            </a:r>
            <a:endParaRPr lang="en-GB" sz="1400" b="1" u="sng" dirty="0">
              <a:solidFill>
                <a:srgbClr val="FF0000"/>
              </a:solidFill>
              <a:latin typeface="VT323" panose="00000509000000000000" pitchFamily="49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Implement an RL agent using Proximal Policy Optimization (PPO).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Develop a multi-sensory observation system (vision cone, audio, multipoint scent trail).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Compare the RL agent's adaptability and believability against a custom C# Behaviour Tree baseline using A* NavMesh pathfinding.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B6CBD5-50D5-6A2F-CDAC-BB12D789772A}"/>
              </a:ext>
            </a:extLst>
          </p:cNvPr>
          <p:cNvSpPr/>
          <p:nvPr/>
        </p:nvSpPr>
        <p:spPr>
          <a:xfrm>
            <a:off x="7290134" y="3695270"/>
            <a:ext cx="3276325" cy="3818024"/>
          </a:xfrm>
          <a:custGeom>
            <a:avLst/>
            <a:gdLst>
              <a:gd name="csX0" fmla="*/ 0 w 3276325"/>
              <a:gd name="csY0" fmla="*/ 0 h 3818024"/>
              <a:gd name="csX1" fmla="*/ 578817 w 3276325"/>
              <a:gd name="csY1" fmla="*/ 0 h 3818024"/>
              <a:gd name="csX2" fmla="*/ 1124872 w 3276325"/>
              <a:gd name="csY2" fmla="*/ 0 h 3818024"/>
              <a:gd name="csX3" fmla="*/ 1703689 w 3276325"/>
              <a:gd name="csY3" fmla="*/ 0 h 3818024"/>
              <a:gd name="csX4" fmla="*/ 2249743 w 3276325"/>
              <a:gd name="csY4" fmla="*/ 0 h 3818024"/>
              <a:gd name="csX5" fmla="*/ 3276325 w 3276325"/>
              <a:gd name="csY5" fmla="*/ 0 h 3818024"/>
              <a:gd name="csX6" fmla="*/ 3276325 w 3276325"/>
              <a:gd name="csY6" fmla="*/ 469072 h 3818024"/>
              <a:gd name="csX7" fmla="*/ 3276325 w 3276325"/>
              <a:gd name="csY7" fmla="*/ 938143 h 3818024"/>
              <a:gd name="csX8" fmla="*/ 3276325 w 3276325"/>
              <a:gd name="csY8" fmla="*/ 1521755 h 3818024"/>
              <a:gd name="csX9" fmla="*/ 3276325 w 3276325"/>
              <a:gd name="csY9" fmla="*/ 2105368 h 3818024"/>
              <a:gd name="csX10" fmla="*/ 3276325 w 3276325"/>
              <a:gd name="csY10" fmla="*/ 2650800 h 3818024"/>
              <a:gd name="csX11" fmla="*/ 3276325 w 3276325"/>
              <a:gd name="csY11" fmla="*/ 3196232 h 3818024"/>
              <a:gd name="csX12" fmla="*/ 3276325 w 3276325"/>
              <a:gd name="csY12" fmla="*/ 3818024 h 3818024"/>
              <a:gd name="csX13" fmla="*/ 2697508 w 3276325"/>
              <a:gd name="csY13" fmla="*/ 3818024 h 3818024"/>
              <a:gd name="csX14" fmla="*/ 2249743 w 3276325"/>
              <a:gd name="csY14" fmla="*/ 3818024 h 3818024"/>
              <a:gd name="csX15" fmla="*/ 1638163 w 3276325"/>
              <a:gd name="csY15" fmla="*/ 3818024 h 3818024"/>
              <a:gd name="csX16" fmla="*/ 1157635 w 3276325"/>
              <a:gd name="csY16" fmla="*/ 3818024 h 3818024"/>
              <a:gd name="csX17" fmla="*/ 611581 w 3276325"/>
              <a:gd name="csY17" fmla="*/ 3818024 h 3818024"/>
              <a:gd name="csX18" fmla="*/ 0 w 3276325"/>
              <a:gd name="csY18" fmla="*/ 3818024 h 3818024"/>
              <a:gd name="csX19" fmla="*/ 0 w 3276325"/>
              <a:gd name="csY19" fmla="*/ 3234412 h 3818024"/>
              <a:gd name="csX20" fmla="*/ 0 w 3276325"/>
              <a:gd name="csY20" fmla="*/ 2765340 h 3818024"/>
              <a:gd name="csX21" fmla="*/ 0 w 3276325"/>
              <a:gd name="csY21" fmla="*/ 2258088 h 3818024"/>
              <a:gd name="csX22" fmla="*/ 0 w 3276325"/>
              <a:gd name="csY22" fmla="*/ 1789017 h 3818024"/>
              <a:gd name="csX23" fmla="*/ 0 w 3276325"/>
              <a:gd name="csY23" fmla="*/ 1205405 h 3818024"/>
              <a:gd name="csX24" fmla="*/ 0 w 3276325"/>
              <a:gd name="csY24" fmla="*/ 621792 h 3818024"/>
              <a:gd name="csX25" fmla="*/ 0 w 3276325"/>
              <a:gd name="csY25" fmla="*/ 0 h 3818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3276325" h="3818024" extrusionOk="0">
                <a:moveTo>
                  <a:pt x="0" y="0"/>
                </a:moveTo>
                <a:cubicBezTo>
                  <a:pt x="176480" y="-36218"/>
                  <a:pt x="331858" y="20173"/>
                  <a:pt x="578817" y="0"/>
                </a:cubicBezTo>
                <a:cubicBezTo>
                  <a:pt x="825776" y="-20173"/>
                  <a:pt x="891472" y="21275"/>
                  <a:pt x="1124872" y="0"/>
                </a:cubicBezTo>
                <a:cubicBezTo>
                  <a:pt x="1358272" y="-21275"/>
                  <a:pt x="1525760" y="53119"/>
                  <a:pt x="1703689" y="0"/>
                </a:cubicBezTo>
                <a:cubicBezTo>
                  <a:pt x="1881618" y="-53119"/>
                  <a:pt x="2078876" y="50014"/>
                  <a:pt x="2249743" y="0"/>
                </a:cubicBezTo>
                <a:cubicBezTo>
                  <a:pt x="2420610" y="-50014"/>
                  <a:pt x="2924480" y="38384"/>
                  <a:pt x="3276325" y="0"/>
                </a:cubicBezTo>
                <a:cubicBezTo>
                  <a:pt x="3302414" y="232826"/>
                  <a:pt x="3268119" y="373851"/>
                  <a:pt x="3276325" y="469072"/>
                </a:cubicBezTo>
                <a:cubicBezTo>
                  <a:pt x="3284531" y="564293"/>
                  <a:pt x="3232272" y="705495"/>
                  <a:pt x="3276325" y="938143"/>
                </a:cubicBezTo>
                <a:cubicBezTo>
                  <a:pt x="3320378" y="1170791"/>
                  <a:pt x="3245261" y="1231021"/>
                  <a:pt x="3276325" y="1521755"/>
                </a:cubicBezTo>
                <a:cubicBezTo>
                  <a:pt x="3307389" y="1812489"/>
                  <a:pt x="3274245" y="1826118"/>
                  <a:pt x="3276325" y="2105368"/>
                </a:cubicBezTo>
                <a:cubicBezTo>
                  <a:pt x="3278405" y="2384618"/>
                  <a:pt x="3264816" y="2456811"/>
                  <a:pt x="3276325" y="2650800"/>
                </a:cubicBezTo>
                <a:cubicBezTo>
                  <a:pt x="3287834" y="2844789"/>
                  <a:pt x="3271540" y="2958352"/>
                  <a:pt x="3276325" y="3196232"/>
                </a:cubicBezTo>
                <a:cubicBezTo>
                  <a:pt x="3281110" y="3434112"/>
                  <a:pt x="3247650" y="3569588"/>
                  <a:pt x="3276325" y="3818024"/>
                </a:cubicBezTo>
                <a:cubicBezTo>
                  <a:pt x="3058574" y="3871635"/>
                  <a:pt x="2851468" y="3768448"/>
                  <a:pt x="2697508" y="3818024"/>
                </a:cubicBezTo>
                <a:cubicBezTo>
                  <a:pt x="2543548" y="3867600"/>
                  <a:pt x="2380760" y="3811367"/>
                  <a:pt x="2249743" y="3818024"/>
                </a:cubicBezTo>
                <a:cubicBezTo>
                  <a:pt x="2118726" y="3824681"/>
                  <a:pt x="1917211" y="3750635"/>
                  <a:pt x="1638163" y="3818024"/>
                </a:cubicBezTo>
                <a:cubicBezTo>
                  <a:pt x="1359115" y="3885413"/>
                  <a:pt x="1265398" y="3796383"/>
                  <a:pt x="1157635" y="3818024"/>
                </a:cubicBezTo>
                <a:cubicBezTo>
                  <a:pt x="1049872" y="3839665"/>
                  <a:pt x="739933" y="3775151"/>
                  <a:pt x="611581" y="3818024"/>
                </a:cubicBezTo>
                <a:cubicBezTo>
                  <a:pt x="483229" y="3860897"/>
                  <a:pt x="176724" y="3746846"/>
                  <a:pt x="0" y="3818024"/>
                </a:cubicBezTo>
                <a:cubicBezTo>
                  <a:pt x="-19957" y="3638682"/>
                  <a:pt x="59405" y="3372121"/>
                  <a:pt x="0" y="3234412"/>
                </a:cubicBezTo>
                <a:cubicBezTo>
                  <a:pt x="-59405" y="3096703"/>
                  <a:pt x="19040" y="2977458"/>
                  <a:pt x="0" y="2765340"/>
                </a:cubicBezTo>
                <a:cubicBezTo>
                  <a:pt x="-19040" y="2553222"/>
                  <a:pt x="31922" y="2491722"/>
                  <a:pt x="0" y="2258088"/>
                </a:cubicBezTo>
                <a:cubicBezTo>
                  <a:pt x="-31922" y="2024454"/>
                  <a:pt x="51028" y="1981011"/>
                  <a:pt x="0" y="1789017"/>
                </a:cubicBezTo>
                <a:cubicBezTo>
                  <a:pt x="-51028" y="1597023"/>
                  <a:pt x="42884" y="1366087"/>
                  <a:pt x="0" y="1205405"/>
                </a:cubicBezTo>
                <a:cubicBezTo>
                  <a:pt x="-42884" y="1044723"/>
                  <a:pt x="50748" y="895171"/>
                  <a:pt x="0" y="621792"/>
                </a:cubicBezTo>
                <a:cubicBezTo>
                  <a:pt x="-50748" y="348413"/>
                  <a:pt x="10356" y="148485"/>
                  <a:pt x="0" y="0"/>
                </a:cubicBezTo>
                <a:close/>
              </a:path>
            </a:pathLst>
          </a:custGeom>
          <a:noFill/>
          <a:ln w="38100" cap="flat" cmpd="sng" algn="ctr">
            <a:gradFill>
              <a:gsLst>
                <a:gs pos="0">
                  <a:srgbClr val="C00000"/>
                </a:gs>
                <a:gs pos="23852">
                  <a:srgbClr val="8B0C06"/>
                </a:gs>
                <a:gs pos="67000">
                  <a:srgbClr val="2A2111"/>
                </a:gs>
                <a:gs pos="100000">
                  <a:srgbClr val="0A2814"/>
                </a:gs>
              </a:gsLst>
              <a:lin ang="5400000" scaled="1"/>
            </a:gra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2442889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0A1F44"/>
                </a:solidFill>
              </a:defRPr>
            </a:pPr>
            <a:r>
              <a:rPr lang="en-GB" sz="2000" u="sng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Methods &amp; Implementation</a:t>
            </a:r>
          </a:p>
          <a:p>
            <a:pPr marL="285750" indent="-285750">
              <a:buFont typeface="Arial" panose="020B0604020202020204" pitchFamily="34" charset="0"/>
              <a:buChar char="•"/>
              <a:defRPr sz="2800" b="1">
                <a:solidFill>
                  <a:srgbClr val="0A1F44"/>
                </a:solidFill>
              </a:defRPr>
            </a:pPr>
            <a:r>
              <a:rPr lang="en-GB" sz="1400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Environment: 3D Forest Arena (Unity).</a:t>
            </a:r>
          </a:p>
          <a:p>
            <a:pPr marL="285750" indent="-285750">
              <a:buFont typeface="Arial" panose="020B0604020202020204" pitchFamily="34" charset="0"/>
              <a:buChar char="•"/>
              <a:defRPr sz="2800" b="1">
                <a:solidFill>
                  <a:srgbClr val="0A1F44"/>
                </a:solidFill>
              </a:defRPr>
            </a:pPr>
            <a:r>
              <a:rPr lang="en-GB" sz="1400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Sensory Inputs: Raycast vision, auditory triggers, multipoint scent trail.</a:t>
            </a:r>
          </a:p>
          <a:p>
            <a:pPr marL="285750" indent="-285750">
              <a:buFont typeface="Arial" panose="020B0604020202020204" pitchFamily="34" charset="0"/>
              <a:buChar char="•"/>
              <a:defRPr sz="2800" b="1">
                <a:solidFill>
                  <a:srgbClr val="0A1F44"/>
                </a:solidFill>
              </a:defRPr>
            </a:pPr>
            <a:r>
              <a:rPr lang="en-GB" sz="1400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Training: PPO (up to 20 million steps).</a:t>
            </a:r>
          </a:p>
          <a:p>
            <a:pPr marL="285750" indent="-285750">
              <a:buFont typeface="Arial" panose="020B0604020202020204" pitchFamily="34" charset="0"/>
              <a:buChar char="•"/>
              <a:defRPr sz="2800" b="1">
                <a:solidFill>
                  <a:srgbClr val="0A1F44"/>
                </a:solidFill>
              </a:defRPr>
            </a:pPr>
            <a:r>
              <a:rPr lang="en-GB" sz="1400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Reward Strategy: Rewarded for capture; penalized for losing target.</a:t>
            </a:r>
          </a:p>
          <a:p>
            <a:pPr algn="ctr">
              <a:defRPr sz="2800" b="1">
                <a:solidFill>
                  <a:srgbClr val="0A1F44"/>
                </a:solidFill>
              </a:defRPr>
            </a:pPr>
            <a:r>
              <a:rPr lang="en-GB" sz="2000" u="sng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References</a:t>
            </a:r>
            <a:endParaRPr lang="en-GB" sz="4000" u="sng" dirty="0">
              <a:solidFill>
                <a:srgbClr val="FF0000"/>
              </a:solidFill>
              <a:latin typeface="VT323" panose="00000509000000000000" pitchFamily="49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2800" b="1">
                <a:solidFill>
                  <a:srgbClr val="0A1F44"/>
                </a:solidFill>
              </a:defRPr>
            </a:pPr>
            <a:r>
              <a:rPr lang="en-GB" sz="1400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Datatonic, T., 2022. Reinforcement Learning: How to Train an RL Agent from Scratch.</a:t>
            </a:r>
          </a:p>
          <a:p>
            <a:pPr marL="285750" indent="-285750">
              <a:buFont typeface="Arial" panose="020B0604020202020204" pitchFamily="34" charset="0"/>
              <a:buChar char="•"/>
              <a:defRPr sz="2800" b="1">
                <a:solidFill>
                  <a:srgbClr val="0A1F44"/>
                </a:solidFill>
              </a:defRPr>
            </a:pPr>
            <a:r>
              <a:rPr lang="en-GB" sz="1400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Juliani, A., Berges, V., Vckay, E. &amp; al., e., 2018. Unity ML-Agents: A toolkit for reinforcement learning and imitation learning in games.</a:t>
            </a:r>
          </a:p>
          <a:p>
            <a:pPr>
              <a:defRPr sz="2800" b="1">
                <a:solidFill>
                  <a:srgbClr val="0A1F44"/>
                </a:solidFill>
              </a:defRPr>
            </a:pPr>
            <a:endParaRPr lang="en-GB" sz="1600" dirty="0">
              <a:solidFill>
                <a:srgbClr val="FF0000"/>
              </a:solidFill>
              <a:latin typeface="VT323" panose="00000509000000000000" pitchFamily="49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262157-D873-1596-CF86-6AB49379A25A}"/>
              </a:ext>
            </a:extLst>
          </p:cNvPr>
          <p:cNvSpPr/>
          <p:nvPr/>
        </p:nvSpPr>
        <p:spPr>
          <a:xfrm>
            <a:off x="4160367" y="10339639"/>
            <a:ext cx="4148260" cy="1787072"/>
          </a:xfrm>
          <a:custGeom>
            <a:avLst/>
            <a:gdLst>
              <a:gd name="csX0" fmla="*/ 0 w 4148260"/>
              <a:gd name="csY0" fmla="*/ 0 h 1787072"/>
              <a:gd name="csX1" fmla="*/ 634091 w 4148260"/>
              <a:gd name="csY1" fmla="*/ 0 h 1787072"/>
              <a:gd name="csX2" fmla="*/ 1102252 w 4148260"/>
              <a:gd name="csY2" fmla="*/ 0 h 1787072"/>
              <a:gd name="csX3" fmla="*/ 1611895 w 4148260"/>
              <a:gd name="csY3" fmla="*/ 0 h 1787072"/>
              <a:gd name="csX4" fmla="*/ 2204504 w 4148260"/>
              <a:gd name="csY4" fmla="*/ 0 h 1787072"/>
              <a:gd name="csX5" fmla="*/ 2880078 w 4148260"/>
              <a:gd name="csY5" fmla="*/ 0 h 1787072"/>
              <a:gd name="csX6" fmla="*/ 3389721 w 4148260"/>
              <a:gd name="csY6" fmla="*/ 0 h 1787072"/>
              <a:gd name="csX7" fmla="*/ 4148260 w 4148260"/>
              <a:gd name="csY7" fmla="*/ 0 h 1787072"/>
              <a:gd name="csX8" fmla="*/ 4148260 w 4148260"/>
              <a:gd name="csY8" fmla="*/ 631432 h 1787072"/>
              <a:gd name="csX9" fmla="*/ 4148260 w 4148260"/>
              <a:gd name="csY9" fmla="*/ 1262864 h 1787072"/>
              <a:gd name="csX10" fmla="*/ 4148260 w 4148260"/>
              <a:gd name="csY10" fmla="*/ 1787072 h 1787072"/>
              <a:gd name="csX11" fmla="*/ 3555651 w 4148260"/>
              <a:gd name="csY11" fmla="*/ 1787072 h 1787072"/>
              <a:gd name="csX12" fmla="*/ 2880078 w 4148260"/>
              <a:gd name="csY12" fmla="*/ 1787072 h 1787072"/>
              <a:gd name="csX13" fmla="*/ 2287469 w 4148260"/>
              <a:gd name="csY13" fmla="*/ 1787072 h 1787072"/>
              <a:gd name="csX14" fmla="*/ 1777826 w 4148260"/>
              <a:gd name="csY14" fmla="*/ 1787072 h 1787072"/>
              <a:gd name="csX15" fmla="*/ 1309665 w 4148260"/>
              <a:gd name="csY15" fmla="*/ 1787072 h 1787072"/>
              <a:gd name="csX16" fmla="*/ 758539 w 4148260"/>
              <a:gd name="csY16" fmla="*/ 1787072 h 1787072"/>
              <a:gd name="csX17" fmla="*/ 0 w 4148260"/>
              <a:gd name="csY17" fmla="*/ 1787072 h 1787072"/>
              <a:gd name="csX18" fmla="*/ 0 w 4148260"/>
              <a:gd name="csY18" fmla="*/ 1244993 h 1787072"/>
              <a:gd name="csX19" fmla="*/ 0 w 4148260"/>
              <a:gd name="csY19" fmla="*/ 613561 h 1787072"/>
              <a:gd name="csX20" fmla="*/ 0 w 4148260"/>
              <a:gd name="csY20" fmla="*/ 0 h 1787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148260" h="1787072" extrusionOk="0">
                <a:moveTo>
                  <a:pt x="0" y="0"/>
                </a:moveTo>
                <a:cubicBezTo>
                  <a:pt x="142869" y="-11117"/>
                  <a:pt x="411721" y="10012"/>
                  <a:pt x="634091" y="0"/>
                </a:cubicBezTo>
                <a:cubicBezTo>
                  <a:pt x="856461" y="-10012"/>
                  <a:pt x="990986" y="1975"/>
                  <a:pt x="1102252" y="0"/>
                </a:cubicBezTo>
                <a:cubicBezTo>
                  <a:pt x="1213518" y="-1975"/>
                  <a:pt x="1379549" y="32638"/>
                  <a:pt x="1611895" y="0"/>
                </a:cubicBezTo>
                <a:cubicBezTo>
                  <a:pt x="1844241" y="-32638"/>
                  <a:pt x="2005812" y="69175"/>
                  <a:pt x="2204504" y="0"/>
                </a:cubicBezTo>
                <a:cubicBezTo>
                  <a:pt x="2403196" y="-69175"/>
                  <a:pt x="2670327" y="74943"/>
                  <a:pt x="2880078" y="0"/>
                </a:cubicBezTo>
                <a:cubicBezTo>
                  <a:pt x="3089829" y="-74943"/>
                  <a:pt x="3153368" y="1130"/>
                  <a:pt x="3389721" y="0"/>
                </a:cubicBezTo>
                <a:cubicBezTo>
                  <a:pt x="3626074" y="-1130"/>
                  <a:pt x="3789726" y="51288"/>
                  <a:pt x="4148260" y="0"/>
                </a:cubicBezTo>
                <a:cubicBezTo>
                  <a:pt x="4194257" y="242280"/>
                  <a:pt x="4092662" y="461316"/>
                  <a:pt x="4148260" y="631432"/>
                </a:cubicBezTo>
                <a:cubicBezTo>
                  <a:pt x="4203858" y="801548"/>
                  <a:pt x="4100700" y="1113562"/>
                  <a:pt x="4148260" y="1262864"/>
                </a:cubicBezTo>
                <a:cubicBezTo>
                  <a:pt x="4195820" y="1412166"/>
                  <a:pt x="4092992" y="1573339"/>
                  <a:pt x="4148260" y="1787072"/>
                </a:cubicBezTo>
                <a:cubicBezTo>
                  <a:pt x="4028224" y="1813960"/>
                  <a:pt x="3785522" y="1739833"/>
                  <a:pt x="3555651" y="1787072"/>
                </a:cubicBezTo>
                <a:cubicBezTo>
                  <a:pt x="3325780" y="1834311"/>
                  <a:pt x="3200344" y="1721202"/>
                  <a:pt x="2880078" y="1787072"/>
                </a:cubicBezTo>
                <a:cubicBezTo>
                  <a:pt x="2559812" y="1852942"/>
                  <a:pt x="2407350" y="1734447"/>
                  <a:pt x="2287469" y="1787072"/>
                </a:cubicBezTo>
                <a:cubicBezTo>
                  <a:pt x="2167588" y="1839697"/>
                  <a:pt x="2007152" y="1753610"/>
                  <a:pt x="1777826" y="1787072"/>
                </a:cubicBezTo>
                <a:cubicBezTo>
                  <a:pt x="1548500" y="1820534"/>
                  <a:pt x="1482926" y="1755418"/>
                  <a:pt x="1309665" y="1787072"/>
                </a:cubicBezTo>
                <a:cubicBezTo>
                  <a:pt x="1136404" y="1818726"/>
                  <a:pt x="978326" y="1730353"/>
                  <a:pt x="758539" y="1787072"/>
                </a:cubicBezTo>
                <a:cubicBezTo>
                  <a:pt x="538752" y="1843791"/>
                  <a:pt x="317881" y="1736145"/>
                  <a:pt x="0" y="1787072"/>
                </a:cubicBezTo>
                <a:cubicBezTo>
                  <a:pt x="-16790" y="1637685"/>
                  <a:pt x="20411" y="1500941"/>
                  <a:pt x="0" y="1244993"/>
                </a:cubicBezTo>
                <a:cubicBezTo>
                  <a:pt x="-20411" y="989045"/>
                  <a:pt x="29824" y="804284"/>
                  <a:pt x="0" y="613561"/>
                </a:cubicBezTo>
                <a:cubicBezTo>
                  <a:pt x="-29824" y="422838"/>
                  <a:pt x="8160" y="185286"/>
                  <a:pt x="0" y="0"/>
                </a:cubicBezTo>
                <a:close/>
              </a:path>
            </a:pathLst>
          </a:custGeom>
          <a:noFill/>
          <a:ln w="38100" cap="flat" cmpd="sng" algn="ctr">
            <a:gradFill>
              <a:gsLst>
                <a:gs pos="0">
                  <a:srgbClr val="C00000"/>
                </a:gs>
                <a:gs pos="23852">
                  <a:srgbClr val="8B0C06"/>
                </a:gs>
                <a:gs pos="67000">
                  <a:srgbClr val="2A2111"/>
                </a:gs>
                <a:gs pos="100000">
                  <a:srgbClr val="0A2814"/>
                </a:gs>
              </a:gsLst>
              <a:lin ang="5400000" scaled="1"/>
            </a:gra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53551054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0A1F44"/>
                </a:solidFill>
              </a:defRPr>
            </a:pPr>
            <a:r>
              <a:rPr lang="en-GB" sz="2000" u="sng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Results &amp; Evaluation</a:t>
            </a:r>
          </a:p>
          <a:p>
            <a:pPr marL="285750" indent="-285750">
              <a:buFont typeface="Arial" panose="020B0604020202020204" pitchFamily="34" charset="0"/>
              <a:buChar char="•"/>
              <a:defRPr sz="2800" b="1">
                <a:solidFill>
                  <a:srgbClr val="0A1F44"/>
                </a:solidFill>
              </a:defRPr>
            </a:pPr>
            <a:r>
              <a:rPr lang="en-GB" sz="1400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10 participants tested Enemy A (RL) vs Enemy B (Baseline).</a:t>
            </a:r>
          </a:p>
          <a:p>
            <a:pPr marL="285750" indent="-285750">
              <a:buFont typeface="Arial" panose="020B0604020202020204" pitchFamily="34" charset="0"/>
              <a:buChar char="•"/>
              <a:defRPr sz="2800" b="1">
                <a:solidFill>
                  <a:srgbClr val="0A1F44"/>
                </a:solidFill>
              </a:defRPr>
            </a:pPr>
            <a:r>
              <a:rPr lang="en-GB" sz="1400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Enemy B was significantly more effective at out-of-sight tracking.</a:t>
            </a:r>
          </a:p>
          <a:p>
            <a:pPr marL="285750" indent="-285750">
              <a:buFont typeface="Arial" panose="020B0604020202020204" pitchFamily="34" charset="0"/>
              <a:buChar char="•"/>
              <a:defRPr sz="2800" b="1">
                <a:solidFill>
                  <a:srgbClr val="0A1F44"/>
                </a:solidFill>
              </a:defRPr>
            </a:pPr>
            <a:r>
              <a:rPr lang="en-GB" sz="1400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Players rated Enemy B as more "dynamic" and less mechanical.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F8C09F-606C-843C-B801-78CE17CF991E}"/>
              </a:ext>
            </a:extLst>
          </p:cNvPr>
          <p:cNvSpPr/>
          <p:nvPr/>
        </p:nvSpPr>
        <p:spPr>
          <a:xfrm>
            <a:off x="5439715" y="1638971"/>
            <a:ext cx="5126743" cy="1907366"/>
          </a:xfrm>
          <a:custGeom>
            <a:avLst/>
            <a:gdLst>
              <a:gd name="csX0" fmla="*/ 0 w 5126743"/>
              <a:gd name="csY0" fmla="*/ 0 h 1907366"/>
              <a:gd name="csX1" fmla="*/ 569638 w 5126743"/>
              <a:gd name="csY1" fmla="*/ 0 h 1907366"/>
              <a:gd name="csX2" fmla="*/ 985474 w 5126743"/>
              <a:gd name="csY2" fmla="*/ 0 h 1907366"/>
              <a:gd name="csX3" fmla="*/ 1503845 w 5126743"/>
              <a:gd name="csY3" fmla="*/ 0 h 1907366"/>
              <a:gd name="csX4" fmla="*/ 2124750 w 5126743"/>
              <a:gd name="csY4" fmla="*/ 0 h 1907366"/>
              <a:gd name="csX5" fmla="*/ 2796923 w 5126743"/>
              <a:gd name="csY5" fmla="*/ 0 h 1907366"/>
              <a:gd name="csX6" fmla="*/ 3315294 w 5126743"/>
              <a:gd name="csY6" fmla="*/ 0 h 1907366"/>
              <a:gd name="csX7" fmla="*/ 3731130 w 5126743"/>
              <a:gd name="csY7" fmla="*/ 0 h 1907366"/>
              <a:gd name="csX8" fmla="*/ 4198233 w 5126743"/>
              <a:gd name="csY8" fmla="*/ 0 h 1907366"/>
              <a:gd name="csX9" fmla="*/ 5126743 w 5126743"/>
              <a:gd name="csY9" fmla="*/ 0 h 1907366"/>
              <a:gd name="csX10" fmla="*/ 5126743 w 5126743"/>
              <a:gd name="csY10" fmla="*/ 457768 h 1907366"/>
              <a:gd name="csX11" fmla="*/ 5126743 w 5126743"/>
              <a:gd name="csY11" fmla="*/ 972757 h 1907366"/>
              <a:gd name="csX12" fmla="*/ 5126743 w 5126743"/>
              <a:gd name="csY12" fmla="*/ 1487745 h 1907366"/>
              <a:gd name="csX13" fmla="*/ 5126743 w 5126743"/>
              <a:gd name="csY13" fmla="*/ 1907366 h 1907366"/>
              <a:gd name="csX14" fmla="*/ 4505837 w 5126743"/>
              <a:gd name="csY14" fmla="*/ 1907366 h 1907366"/>
              <a:gd name="csX15" fmla="*/ 3884932 w 5126743"/>
              <a:gd name="csY15" fmla="*/ 1907366 h 1907366"/>
              <a:gd name="csX16" fmla="*/ 3469096 w 5126743"/>
              <a:gd name="csY16" fmla="*/ 1907366 h 1907366"/>
              <a:gd name="csX17" fmla="*/ 2899458 w 5126743"/>
              <a:gd name="csY17" fmla="*/ 1907366 h 1907366"/>
              <a:gd name="csX18" fmla="*/ 2483622 w 5126743"/>
              <a:gd name="csY18" fmla="*/ 1907366 h 1907366"/>
              <a:gd name="csX19" fmla="*/ 1862717 w 5126743"/>
              <a:gd name="csY19" fmla="*/ 1907366 h 1907366"/>
              <a:gd name="csX20" fmla="*/ 1446881 w 5126743"/>
              <a:gd name="csY20" fmla="*/ 1907366 h 1907366"/>
              <a:gd name="csX21" fmla="*/ 877243 w 5126743"/>
              <a:gd name="csY21" fmla="*/ 1907366 h 1907366"/>
              <a:gd name="csX22" fmla="*/ 0 w 5126743"/>
              <a:gd name="csY22" fmla="*/ 1907366 h 1907366"/>
              <a:gd name="csX23" fmla="*/ 0 w 5126743"/>
              <a:gd name="csY23" fmla="*/ 1468672 h 1907366"/>
              <a:gd name="csX24" fmla="*/ 0 w 5126743"/>
              <a:gd name="csY24" fmla="*/ 953683 h 1907366"/>
              <a:gd name="csX25" fmla="*/ 0 w 5126743"/>
              <a:gd name="csY25" fmla="*/ 534062 h 1907366"/>
              <a:gd name="csX26" fmla="*/ 0 w 5126743"/>
              <a:gd name="csY26" fmla="*/ 0 h 19073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5126743" h="1907366" extrusionOk="0">
                <a:moveTo>
                  <a:pt x="0" y="0"/>
                </a:moveTo>
                <a:cubicBezTo>
                  <a:pt x="264715" y="-2855"/>
                  <a:pt x="297945" y="48411"/>
                  <a:pt x="569638" y="0"/>
                </a:cubicBezTo>
                <a:cubicBezTo>
                  <a:pt x="841331" y="-48411"/>
                  <a:pt x="853709" y="48618"/>
                  <a:pt x="985474" y="0"/>
                </a:cubicBezTo>
                <a:cubicBezTo>
                  <a:pt x="1117239" y="-48618"/>
                  <a:pt x="1276814" y="53337"/>
                  <a:pt x="1503845" y="0"/>
                </a:cubicBezTo>
                <a:cubicBezTo>
                  <a:pt x="1730876" y="-53337"/>
                  <a:pt x="1818339" y="46115"/>
                  <a:pt x="2124750" y="0"/>
                </a:cubicBezTo>
                <a:cubicBezTo>
                  <a:pt x="2431162" y="-46115"/>
                  <a:pt x="2605746" y="55309"/>
                  <a:pt x="2796923" y="0"/>
                </a:cubicBezTo>
                <a:cubicBezTo>
                  <a:pt x="2988100" y="-55309"/>
                  <a:pt x="3176116" y="51037"/>
                  <a:pt x="3315294" y="0"/>
                </a:cubicBezTo>
                <a:cubicBezTo>
                  <a:pt x="3454472" y="-51037"/>
                  <a:pt x="3627028" y="25219"/>
                  <a:pt x="3731130" y="0"/>
                </a:cubicBezTo>
                <a:cubicBezTo>
                  <a:pt x="3835232" y="-25219"/>
                  <a:pt x="4041530" y="12210"/>
                  <a:pt x="4198233" y="0"/>
                </a:cubicBezTo>
                <a:cubicBezTo>
                  <a:pt x="4354936" y="-12210"/>
                  <a:pt x="4759335" y="18603"/>
                  <a:pt x="5126743" y="0"/>
                </a:cubicBezTo>
                <a:cubicBezTo>
                  <a:pt x="5152951" y="187488"/>
                  <a:pt x="5091675" y="289933"/>
                  <a:pt x="5126743" y="457768"/>
                </a:cubicBezTo>
                <a:cubicBezTo>
                  <a:pt x="5161811" y="625603"/>
                  <a:pt x="5121301" y="801506"/>
                  <a:pt x="5126743" y="972757"/>
                </a:cubicBezTo>
                <a:cubicBezTo>
                  <a:pt x="5132185" y="1144008"/>
                  <a:pt x="5116410" y="1357173"/>
                  <a:pt x="5126743" y="1487745"/>
                </a:cubicBezTo>
                <a:cubicBezTo>
                  <a:pt x="5137076" y="1618317"/>
                  <a:pt x="5090672" y="1821608"/>
                  <a:pt x="5126743" y="1907366"/>
                </a:cubicBezTo>
                <a:cubicBezTo>
                  <a:pt x="4874427" y="1940483"/>
                  <a:pt x="4728072" y="1847317"/>
                  <a:pt x="4505837" y="1907366"/>
                </a:cubicBezTo>
                <a:cubicBezTo>
                  <a:pt x="4283602" y="1967415"/>
                  <a:pt x="4167644" y="1856286"/>
                  <a:pt x="3884932" y="1907366"/>
                </a:cubicBezTo>
                <a:cubicBezTo>
                  <a:pt x="3602221" y="1958446"/>
                  <a:pt x="3563478" y="1867531"/>
                  <a:pt x="3469096" y="1907366"/>
                </a:cubicBezTo>
                <a:cubicBezTo>
                  <a:pt x="3374714" y="1947201"/>
                  <a:pt x="3125909" y="1851857"/>
                  <a:pt x="2899458" y="1907366"/>
                </a:cubicBezTo>
                <a:cubicBezTo>
                  <a:pt x="2673007" y="1962875"/>
                  <a:pt x="2644532" y="1857825"/>
                  <a:pt x="2483622" y="1907366"/>
                </a:cubicBezTo>
                <a:cubicBezTo>
                  <a:pt x="2322712" y="1956907"/>
                  <a:pt x="2153255" y="1884357"/>
                  <a:pt x="1862717" y="1907366"/>
                </a:cubicBezTo>
                <a:cubicBezTo>
                  <a:pt x="1572180" y="1930375"/>
                  <a:pt x="1637827" y="1863306"/>
                  <a:pt x="1446881" y="1907366"/>
                </a:cubicBezTo>
                <a:cubicBezTo>
                  <a:pt x="1255935" y="1951426"/>
                  <a:pt x="1053663" y="1856292"/>
                  <a:pt x="877243" y="1907366"/>
                </a:cubicBezTo>
                <a:cubicBezTo>
                  <a:pt x="700823" y="1958440"/>
                  <a:pt x="427428" y="1850175"/>
                  <a:pt x="0" y="1907366"/>
                </a:cubicBezTo>
                <a:cubicBezTo>
                  <a:pt x="-4578" y="1798217"/>
                  <a:pt x="36409" y="1574578"/>
                  <a:pt x="0" y="1468672"/>
                </a:cubicBezTo>
                <a:cubicBezTo>
                  <a:pt x="-36409" y="1362766"/>
                  <a:pt x="2547" y="1112688"/>
                  <a:pt x="0" y="953683"/>
                </a:cubicBezTo>
                <a:cubicBezTo>
                  <a:pt x="-2547" y="794678"/>
                  <a:pt x="38718" y="693563"/>
                  <a:pt x="0" y="534062"/>
                </a:cubicBezTo>
                <a:cubicBezTo>
                  <a:pt x="-38718" y="374561"/>
                  <a:pt x="61678" y="153780"/>
                  <a:pt x="0" y="0"/>
                </a:cubicBezTo>
                <a:close/>
              </a:path>
            </a:pathLst>
          </a:custGeom>
          <a:noFill/>
          <a:ln w="38100" cap="flat" cmpd="sng" algn="ctr">
            <a:gradFill>
              <a:gsLst>
                <a:gs pos="0">
                  <a:srgbClr val="C00000"/>
                </a:gs>
                <a:gs pos="23852">
                  <a:srgbClr val="8B0C06"/>
                </a:gs>
                <a:gs pos="67000">
                  <a:srgbClr val="2A2111"/>
                </a:gs>
                <a:gs pos="100000">
                  <a:srgbClr val="0A2814"/>
                </a:gs>
              </a:gsLst>
              <a:lin ang="5400000" scaled="1"/>
            </a:gra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83114824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0A1F44"/>
                </a:solidFill>
              </a:defRPr>
            </a:pPr>
            <a:r>
              <a:rPr lang="en-GB" sz="2000" u="sng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Discussion</a:t>
            </a:r>
            <a:endParaRPr lang="en-GB" sz="1400" u="sng" dirty="0">
              <a:solidFill>
                <a:srgbClr val="FF0000"/>
              </a:solidFill>
              <a:latin typeface="VT323" panose="00000509000000000000" pitchFamily="49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2800" b="1">
                <a:solidFill>
                  <a:srgbClr val="0A1F44"/>
                </a:solidFill>
              </a:defRPr>
            </a:pPr>
            <a:r>
              <a:rPr lang="en-GB" sz="1400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Early RL training produced coherent tracking, but extended training caused instability (reward plateaus).</a:t>
            </a:r>
          </a:p>
          <a:p>
            <a:pPr marL="285750" indent="-285750">
              <a:buFont typeface="Arial" panose="020B0604020202020204" pitchFamily="34" charset="0"/>
              <a:buChar char="•"/>
              <a:defRPr sz="2800" b="1">
                <a:solidFill>
                  <a:srgbClr val="0A1F44"/>
                </a:solidFill>
              </a:defRPr>
            </a:pPr>
            <a:r>
              <a:rPr lang="en-GB" sz="1400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The RL scent trail succeeded out-of-sight, but the NavMesh baseline (Enemy B) remained more robust overall.</a:t>
            </a:r>
          </a:p>
          <a:p>
            <a:pPr marL="285750" indent="-285750">
              <a:buFont typeface="Arial" panose="020B0604020202020204" pitchFamily="34" charset="0"/>
              <a:buChar char="•"/>
              <a:defRPr sz="2800" b="1">
                <a:solidFill>
                  <a:srgbClr val="0A1F44"/>
                </a:solidFill>
              </a:defRPr>
            </a:pPr>
            <a:r>
              <a:rPr lang="en-GB" sz="1400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Key Takeaway: RL offers dynamic emergence but currently requires vastly more iteration than traditional scripting to achieve reliable baseline difficulty.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FD3867-7FB0-2B1B-E667-238035004609}"/>
              </a:ext>
            </a:extLst>
          </p:cNvPr>
          <p:cNvSpPr/>
          <p:nvPr/>
        </p:nvSpPr>
        <p:spPr>
          <a:xfrm>
            <a:off x="150908" y="12346575"/>
            <a:ext cx="10415550" cy="1332000"/>
          </a:xfrm>
          <a:custGeom>
            <a:avLst/>
            <a:gdLst>
              <a:gd name="csX0" fmla="*/ 0 w 10415550"/>
              <a:gd name="csY0" fmla="*/ 0 h 1332000"/>
              <a:gd name="csX1" fmla="*/ 578642 w 10415550"/>
              <a:gd name="csY1" fmla="*/ 0 h 1332000"/>
              <a:gd name="csX2" fmla="*/ 1157283 w 10415550"/>
              <a:gd name="csY2" fmla="*/ 0 h 1332000"/>
              <a:gd name="csX3" fmla="*/ 1840080 w 10415550"/>
              <a:gd name="csY3" fmla="*/ 0 h 1332000"/>
              <a:gd name="csX4" fmla="*/ 2522878 w 10415550"/>
              <a:gd name="csY4" fmla="*/ 0 h 1332000"/>
              <a:gd name="csX5" fmla="*/ 2789053 w 10415550"/>
              <a:gd name="csY5" fmla="*/ 0 h 1332000"/>
              <a:gd name="csX6" fmla="*/ 3471850 w 10415550"/>
              <a:gd name="csY6" fmla="*/ 0 h 1332000"/>
              <a:gd name="csX7" fmla="*/ 4258803 w 10415550"/>
              <a:gd name="csY7" fmla="*/ 0 h 1332000"/>
              <a:gd name="csX8" fmla="*/ 5045755 w 10415550"/>
              <a:gd name="csY8" fmla="*/ 0 h 1332000"/>
              <a:gd name="csX9" fmla="*/ 5520241 w 10415550"/>
              <a:gd name="csY9" fmla="*/ 0 h 1332000"/>
              <a:gd name="csX10" fmla="*/ 6098883 w 10415550"/>
              <a:gd name="csY10" fmla="*/ 0 h 1332000"/>
              <a:gd name="csX11" fmla="*/ 6677525 w 10415550"/>
              <a:gd name="csY11" fmla="*/ 0 h 1332000"/>
              <a:gd name="csX12" fmla="*/ 7464478 w 10415550"/>
              <a:gd name="csY12" fmla="*/ 0 h 1332000"/>
              <a:gd name="csX13" fmla="*/ 8147275 w 10415550"/>
              <a:gd name="csY13" fmla="*/ 0 h 1332000"/>
              <a:gd name="csX14" fmla="*/ 8725916 w 10415550"/>
              <a:gd name="csY14" fmla="*/ 0 h 1332000"/>
              <a:gd name="csX15" fmla="*/ 9304558 w 10415550"/>
              <a:gd name="csY15" fmla="*/ 0 h 1332000"/>
              <a:gd name="csX16" fmla="*/ 9674889 w 10415550"/>
              <a:gd name="csY16" fmla="*/ 0 h 1332000"/>
              <a:gd name="csX17" fmla="*/ 10415550 w 10415550"/>
              <a:gd name="csY17" fmla="*/ 0 h 1332000"/>
              <a:gd name="csX18" fmla="*/ 10415550 w 10415550"/>
              <a:gd name="csY18" fmla="*/ 470640 h 1332000"/>
              <a:gd name="csX19" fmla="*/ 10415550 w 10415550"/>
              <a:gd name="csY19" fmla="*/ 927960 h 1332000"/>
              <a:gd name="csX20" fmla="*/ 10415550 w 10415550"/>
              <a:gd name="csY20" fmla="*/ 1332000 h 1332000"/>
              <a:gd name="csX21" fmla="*/ 9732753 w 10415550"/>
              <a:gd name="csY21" fmla="*/ 1332000 h 1332000"/>
              <a:gd name="csX22" fmla="*/ 9049956 w 10415550"/>
              <a:gd name="csY22" fmla="*/ 1332000 h 1332000"/>
              <a:gd name="csX23" fmla="*/ 8783781 w 10415550"/>
              <a:gd name="csY23" fmla="*/ 1332000 h 1332000"/>
              <a:gd name="csX24" fmla="*/ 7996828 w 10415550"/>
              <a:gd name="csY24" fmla="*/ 1332000 h 1332000"/>
              <a:gd name="csX25" fmla="*/ 7418186 w 10415550"/>
              <a:gd name="csY25" fmla="*/ 1332000 h 1332000"/>
              <a:gd name="csX26" fmla="*/ 7152011 w 10415550"/>
              <a:gd name="csY26" fmla="*/ 1332000 h 1332000"/>
              <a:gd name="csX27" fmla="*/ 6781680 w 10415550"/>
              <a:gd name="csY27" fmla="*/ 1332000 h 1332000"/>
              <a:gd name="csX28" fmla="*/ 6411350 w 10415550"/>
              <a:gd name="csY28" fmla="*/ 1332000 h 1332000"/>
              <a:gd name="csX29" fmla="*/ 5832708 w 10415550"/>
              <a:gd name="csY29" fmla="*/ 1332000 h 1332000"/>
              <a:gd name="csX30" fmla="*/ 5566533 w 10415550"/>
              <a:gd name="csY30" fmla="*/ 1332000 h 1332000"/>
              <a:gd name="csX31" fmla="*/ 4779580 w 10415550"/>
              <a:gd name="csY31" fmla="*/ 1332000 h 1332000"/>
              <a:gd name="csX32" fmla="*/ 4305094 w 10415550"/>
              <a:gd name="csY32" fmla="*/ 1332000 h 1332000"/>
              <a:gd name="csX33" fmla="*/ 3934763 w 10415550"/>
              <a:gd name="csY33" fmla="*/ 1332000 h 1332000"/>
              <a:gd name="csX34" fmla="*/ 3147811 w 10415550"/>
              <a:gd name="csY34" fmla="*/ 1332000 h 1332000"/>
              <a:gd name="csX35" fmla="*/ 2673324 w 10415550"/>
              <a:gd name="csY35" fmla="*/ 1332000 h 1332000"/>
              <a:gd name="csX36" fmla="*/ 2302994 w 10415550"/>
              <a:gd name="csY36" fmla="*/ 1332000 h 1332000"/>
              <a:gd name="csX37" fmla="*/ 1932663 w 10415550"/>
              <a:gd name="csY37" fmla="*/ 1332000 h 1332000"/>
              <a:gd name="csX38" fmla="*/ 1354021 w 10415550"/>
              <a:gd name="csY38" fmla="*/ 1332000 h 1332000"/>
              <a:gd name="csX39" fmla="*/ 671224 w 10415550"/>
              <a:gd name="csY39" fmla="*/ 1332000 h 1332000"/>
              <a:gd name="csX40" fmla="*/ 0 w 10415550"/>
              <a:gd name="csY40" fmla="*/ 1332000 h 1332000"/>
              <a:gd name="csX41" fmla="*/ 0 w 10415550"/>
              <a:gd name="csY41" fmla="*/ 861360 h 1332000"/>
              <a:gd name="csX42" fmla="*/ 0 w 10415550"/>
              <a:gd name="csY42" fmla="*/ 457320 h 1332000"/>
              <a:gd name="csX43" fmla="*/ 0 w 10415550"/>
              <a:gd name="csY43" fmla="*/ 0 h 1332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</a:cxnLst>
            <a:rect l="l" t="t" r="r" b="b"/>
            <a:pathLst>
              <a:path w="10415550" h="1332000" extrusionOk="0">
                <a:moveTo>
                  <a:pt x="0" y="0"/>
                </a:moveTo>
                <a:cubicBezTo>
                  <a:pt x="186624" y="-64964"/>
                  <a:pt x="383253" y="20773"/>
                  <a:pt x="578642" y="0"/>
                </a:cubicBezTo>
                <a:cubicBezTo>
                  <a:pt x="774031" y="-20773"/>
                  <a:pt x="944874" y="18956"/>
                  <a:pt x="1157283" y="0"/>
                </a:cubicBezTo>
                <a:cubicBezTo>
                  <a:pt x="1369692" y="-18956"/>
                  <a:pt x="1644351" y="38475"/>
                  <a:pt x="1840080" y="0"/>
                </a:cubicBezTo>
                <a:cubicBezTo>
                  <a:pt x="2035809" y="-38475"/>
                  <a:pt x="2196880" y="66530"/>
                  <a:pt x="2522878" y="0"/>
                </a:cubicBezTo>
                <a:cubicBezTo>
                  <a:pt x="2848876" y="-66530"/>
                  <a:pt x="2730791" y="30148"/>
                  <a:pt x="2789053" y="0"/>
                </a:cubicBezTo>
                <a:cubicBezTo>
                  <a:pt x="2847315" y="-30148"/>
                  <a:pt x="3290131" y="478"/>
                  <a:pt x="3471850" y="0"/>
                </a:cubicBezTo>
                <a:cubicBezTo>
                  <a:pt x="3653569" y="-478"/>
                  <a:pt x="3884795" y="37815"/>
                  <a:pt x="4258803" y="0"/>
                </a:cubicBezTo>
                <a:cubicBezTo>
                  <a:pt x="4632811" y="-37815"/>
                  <a:pt x="4725374" y="40167"/>
                  <a:pt x="5045755" y="0"/>
                </a:cubicBezTo>
                <a:cubicBezTo>
                  <a:pt x="5366136" y="-40167"/>
                  <a:pt x="5383085" y="10926"/>
                  <a:pt x="5520241" y="0"/>
                </a:cubicBezTo>
                <a:cubicBezTo>
                  <a:pt x="5657397" y="-10926"/>
                  <a:pt x="5966669" y="50595"/>
                  <a:pt x="6098883" y="0"/>
                </a:cubicBezTo>
                <a:cubicBezTo>
                  <a:pt x="6231097" y="-50595"/>
                  <a:pt x="6511906" y="25923"/>
                  <a:pt x="6677525" y="0"/>
                </a:cubicBezTo>
                <a:cubicBezTo>
                  <a:pt x="6843144" y="-25923"/>
                  <a:pt x="7093662" y="10593"/>
                  <a:pt x="7464478" y="0"/>
                </a:cubicBezTo>
                <a:cubicBezTo>
                  <a:pt x="7835294" y="-10593"/>
                  <a:pt x="7836004" y="72928"/>
                  <a:pt x="8147275" y="0"/>
                </a:cubicBezTo>
                <a:cubicBezTo>
                  <a:pt x="8458546" y="-72928"/>
                  <a:pt x="8483133" y="11376"/>
                  <a:pt x="8725916" y="0"/>
                </a:cubicBezTo>
                <a:cubicBezTo>
                  <a:pt x="8968699" y="-11376"/>
                  <a:pt x="9165051" y="58427"/>
                  <a:pt x="9304558" y="0"/>
                </a:cubicBezTo>
                <a:cubicBezTo>
                  <a:pt x="9444065" y="-58427"/>
                  <a:pt x="9534769" y="44124"/>
                  <a:pt x="9674889" y="0"/>
                </a:cubicBezTo>
                <a:cubicBezTo>
                  <a:pt x="9815009" y="-44124"/>
                  <a:pt x="10090692" y="3434"/>
                  <a:pt x="10415550" y="0"/>
                </a:cubicBezTo>
                <a:cubicBezTo>
                  <a:pt x="10462104" y="228895"/>
                  <a:pt x="10385869" y="253465"/>
                  <a:pt x="10415550" y="470640"/>
                </a:cubicBezTo>
                <a:cubicBezTo>
                  <a:pt x="10445231" y="687815"/>
                  <a:pt x="10380085" y="779872"/>
                  <a:pt x="10415550" y="927960"/>
                </a:cubicBezTo>
                <a:cubicBezTo>
                  <a:pt x="10451015" y="1076048"/>
                  <a:pt x="10375810" y="1208386"/>
                  <a:pt x="10415550" y="1332000"/>
                </a:cubicBezTo>
                <a:cubicBezTo>
                  <a:pt x="10276832" y="1403387"/>
                  <a:pt x="9879192" y="1329344"/>
                  <a:pt x="9732753" y="1332000"/>
                </a:cubicBezTo>
                <a:cubicBezTo>
                  <a:pt x="9586314" y="1334656"/>
                  <a:pt x="9310366" y="1280708"/>
                  <a:pt x="9049956" y="1332000"/>
                </a:cubicBezTo>
                <a:cubicBezTo>
                  <a:pt x="8789546" y="1383292"/>
                  <a:pt x="8891950" y="1330596"/>
                  <a:pt x="8783781" y="1332000"/>
                </a:cubicBezTo>
                <a:cubicBezTo>
                  <a:pt x="8675612" y="1333404"/>
                  <a:pt x="8379278" y="1253903"/>
                  <a:pt x="7996828" y="1332000"/>
                </a:cubicBezTo>
                <a:cubicBezTo>
                  <a:pt x="7614378" y="1410097"/>
                  <a:pt x="7646995" y="1288773"/>
                  <a:pt x="7418186" y="1332000"/>
                </a:cubicBezTo>
                <a:cubicBezTo>
                  <a:pt x="7189377" y="1375227"/>
                  <a:pt x="7253343" y="1330153"/>
                  <a:pt x="7152011" y="1332000"/>
                </a:cubicBezTo>
                <a:cubicBezTo>
                  <a:pt x="7050680" y="1333847"/>
                  <a:pt x="6948274" y="1309306"/>
                  <a:pt x="6781680" y="1332000"/>
                </a:cubicBezTo>
                <a:cubicBezTo>
                  <a:pt x="6615086" y="1354694"/>
                  <a:pt x="6524190" y="1321053"/>
                  <a:pt x="6411350" y="1332000"/>
                </a:cubicBezTo>
                <a:cubicBezTo>
                  <a:pt x="6298510" y="1342947"/>
                  <a:pt x="5992647" y="1265945"/>
                  <a:pt x="5832708" y="1332000"/>
                </a:cubicBezTo>
                <a:cubicBezTo>
                  <a:pt x="5672769" y="1398055"/>
                  <a:pt x="5676964" y="1321374"/>
                  <a:pt x="5566533" y="1332000"/>
                </a:cubicBezTo>
                <a:cubicBezTo>
                  <a:pt x="5456103" y="1342626"/>
                  <a:pt x="5091586" y="1301206"/>
                  <a:pt x="4779580" y="1332000"/>
                </a:cubicBezTo>
                <a:cubicBezTo>
                  <a:pt x="4467574" y="1362794"/>
                  <a:pt x="4461663" y="1277111"/>
                  <a:pt x="4305094" y="1332000"/>
                </a:cubicBezTo>
                <a:cubicBezTo>
                  <a:pt x="4148525" y="1386889"/>
                  <a:pt x="4057065" y="1326479"/>
                  <a:pt x="3934763" y="1332000"/>
                </a:cubicBezTo>
                <a:cubicBezTo>
                  <a:pt x="3812461" y="1337521"/>
                  <a:pt x="3365012" y="1239297"/>
                  <a:pt x="3147811" y="1332000"/>
                </a:cubicBezTo>
                <a:cubicBezTo>
                  <a:pt x="2930610" y="1424703"/>
                  <a:pt x="2890747" y="1319531"/>
                  <a:pt x="2673324" y="1332000"/>
                </a:cubicBezTo>
                <a:cubicBezTo>
                  <a:pt x="2455901" y="1344469"/>
                  <a:pt x="2409131" y="1302980"/>
                  <a:pt x="2302994" y="1332000"/>
                </a:cubicBezTo>
                <a:cubicBezTo>
                  <a:pt x="2196857" y="1361020"/>
                  <a:pt x="2109415" y="1307026"/>
                  <a:pt x="1932663" y="1332000"/>
                </a:cubicBezTo>
                <a:cubicBezTo>
                  <a:pt x="1755911" y="1356974"/>
                  <a:pt x="1509718" y="1299930"/>
                  <a:pt x="1354021" y="1332000"/>
                </a:cubicBezTo>
                <a:cubicBezTo>
                  <a:pt x="1198324" y="1364070"/>
                  <a:pt x="921366" y="1318604"/>
                  <a:pt x="671224" y="1332000"/>
                </a:cubicBezTo>
                <a:cubicBezTo>
                  <a:pt x="421082" y="1345396"/>
                  <a:pt x="168496" y="1328614"/>
                  <a:pt x="0" y="1332000"/>
                </a:cubicBezTo>
                <a:cubicBezTo>
                  <a:pt x="-49460" y="1164450"/>
                  <a:pt x="32332" y="1091605"/>
                  <a:pt x="0" y="861360"/>
                </a:cubicBezTo>
                <a:cubicBezTo>
                  <a:pt x="-32332" y="631115"/>
                  <a:pt x="46909" y="570237"/>
                  <a:pt x="0" y="457320"/>
                </a:cubicBezTo>
                <a:cubicBezTo>
                  <a:pt x="-46909" y="344403"/>
                  <a:pt x="44776" y="177751"/>
                  <a:pt x="0" y="0"/>
                </a:cubicBezTo>
                <a:close/>
              </a:path>
            </a:pathLst>
          </a:custGeom>
          <a:noFill/>
          <a:ln w="38100" cap="flat" cmpd="sng" algn="ctr">
            <a:gradFill>
              <a:gsLst>
                <a:gs pos="0">
                  <a:srgbClr val="C00000"/>
                </a:gs>
                <a:gs pos="23852">
                  <a:srgbClr val="8B0C06"/>
                </a:gs>
                <a:gs pos="67000">
                  <a:srgbClr val="2A2111"/>
                </a:gs>
                <a:gs pos="100000">
                  <a:srgbClr val="0A2814"/>
                </a:gs>
              </a:gsLst>
              <a:lin ang="5400000" scaled="1"/>
            </a:gra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401508501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defRPr sz="2800" b="1">
                <a:solidFill>
                  <a:srgbClr val="0A1F44"/>
                </a:solidFill>
              </a:defRPr>
            </a:pPr>
            <a:r>
              <a:rPr lang="en-GB" sz="2000" u="sng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Conclusion &amp; Future Work</a:t>
            </a:r>
          </a:p>
          <a:p>
            <a:pPr>
              <a:defRPr sz="2800" b="1">
                <a:solidFill>
                  <a:srgbClr val="0A1F44"/>
                </a:solidFill>
              </a:defRPr>
            </a:pPr>
            <a:r>
              <a:rPr lang="en-GB" sz="1400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Reinforcement Learning provides a highly dynamic, adaptable alternative to scripted game AI.</a:t>
            </a:r>
          </a:p>
          <a:p>
            <a:pPr>
              <a:defRPr sz="2800" b="1">
                <a:solidFill>
                  <a:srgbClr val="0A1F44"/>
                </a:solidFill>
              </a:defRPr>
            </a:pPr>
            <a:r>
              <a:rPr lang="en-GB" sz="1400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While setup and training require significant iteration, the resulting emergent behaviour feels more human-like to players.</a:t>
            </a:r>
          </a:p>
          <a:p>
            <a:pPr>
              <a:defRPr sz="2800" b="1">
                <a:solidFill>
                  <a:srgbClr val="0A1F44"/>
                </a:solidFill>
              </a:defRPr>
            </a:pPr>
            <a:r>
              <a:rPr lang="en-GB" sz="1400" dirty="0">
                <a:solidFill>
                  <a:srgbClr val="FF0000"/>
                </a:solidFill>
                <a:latin typeface="VT323" panose="00000509000000000000" pitchFamily="49" charset="0"/>
                <a:cs typeface="Arial" panose="020B0604020202020204" pitchFamily="34" charset="0"/>
              </a:rPr>
              <a:t>Future Work: Expanding the sensory array to include environmental interactions (e.g., disturbing foliage) and porting the model to more complex, multi-level map topologies.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7D3C1EA-7A5B-0250-0C50-E70284872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8927270"/>
              </p:ext>
            </p:extLst>
          </p:nvPr>
        </p:nvGraphicFramePr>
        <p:xfrm>
          <a:off x="235939" y="10116000"/>
          <a:ext cx="3688489" cy="20107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041DBD80-0129-20A9-2A5C-AF116596A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630122" y="7670525"/>
            <a:ext cx="2660012" cy="2502305"/>
            <a:chOff x="190351" y="6302543"/>
            <a:chExt cx="3006496" cy="250228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B6D02D3-11E3-6884-B8E3-EA35BD9C3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0351" y="6302543"/>
              <a:ext cx="3006496" cy="2502288"/>
            </a:xfrm>
            <a:custGeom>
              <a:avLst/>
              <a:gdLst>
                <a:gd name="csX0" fmla="*/ 0 w 2660012"/>
                <a:gd name="csY0" fmla="*/ 0 h 2502305"/>
                <a:gd name="csX1" fmla="*/ 478802 w 2660012"/>
                <a:gd name="csY1" fmla="*/ 0 h 2502305"/>
                <a:gd name="csX2" fmla="*/ 957604 w 2660012"/>
                <a:gd name="csY2" fmla="*/ 0 h 2502305"/>
                <a:gd name="csX3" fmla="*/ 1409806 w 2660012"/>
                <a:gd name="csY3" fmla="*/ 0 h 2502305"/>
                <a:gd name="csX4" fmla="*/ 1888609 w 2660012"/>
                <a:gd name="csY4" fmla="*/ 0 h 2502305"/>
                <a:gd name="csX5" fmla="*/ 2660012 w 2660012"/>
                <a:gd name="csY5" fmla="*/ 0 h 2502305"/>
                <a:gd name="csX6" fmla="*/ 2660012 w 2660012"/>
                <a:gd name="csY6" fmla="*/ 500461 h 2502305"/>
                <a:gd name="csX7" fmla="*/ 2660012 w 2660012"/>
                <a:gd name="csY7" fmla="*/ 950876 h 2502305"/>
                <a:gd name="csX8" fmla="*/ 2660012 w 2660012"/>
                <a:gd name="csY8" fmla="*/ 1451337 h 2502305"/>
                <a:gd name="csX9" fmla="*/ 2660012 w 2660012"/>
                <a:gd name="csY9" fmla="*/ 1976821 h 2502305"/>
                <a:gd name="csX10" fmla="*/ 2660012 w 2660012"/>
                <a:gd name="csY10" fmla="*/ 2502305 h 2502305"/>
                <a:gd name="csX11" fmla="*/ 2128010 w 2660012"/>
                <a:gd name="csY11" fmla="*/ 2502305 h 2502305"/>
                <a:gd name="csX12" fmla="*/ 1542807 w 2660012"/>
                <a:gd name="csY12" fmla="*/ 2502305 h 2502305"/>
                <a:gd name="csX13" fmla="*/ 984204 w 2660012"/>
                <a:gd name="csY13" fmla="*/ 2502305 h 2502305"/>
                <a:gd name="csX14" fmla="*/ 532002 w 2660012"/>
                <a:gd name="csY14" fmla="*/ 2502305 h 2502305"/>
                <a:gd name="csX15" fmla="*/ 0 w 2660012"/>
                <a:gd name="csY15" fmla="*/ 2502305 h 2502305"/>
                <a:gd name="csX16" fmla="*/ 0 w 2660012"/>
                <a:gd name="csY16" fmla="*/ 1976821 h 2502305"/>
                <a:gd name="csX17" fmla="*/ 0 w 2660012"/>
                <a:gd name="csY17" fmla="*/ 1501383 h 2502305"/>
                <a:gd name="csX18" fmla="*/ 0 w 2660012"/>
                <a:gd name="csY18" fmla="*/ 950876 h 2502305"/>
                <a:gd name="csX19" fmla="*/ 0 w 2660012"/>
                <a:gd name="csY19" fmla="*/ 450415 h 2502305"/>
                <a:gd name="csX20" fmla="*/ 0 w 2660012"/>
                <a:gd name="csY20" fmla="*/ 0 h 25023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2660012" h="2502305" fill="none" extrusionOk="0">
                  <a:moveTo>
                    <a:pt x="0" y="0"/>
                  </a:moveTo>
                  <a:cubicBezTo>
                    <a:pt x="122290" y="-32647"/>
                    <a:pt x="257969" y="28459"/>
                    <a:pt x="478802" y="0"/>
                  </a:cubicBezTo>
                  <a:cubicBezTo>
                    <a:pt x="699635" y="-28459"/>
                    <a:pt x="777852" y="44648"/>
                    <a:pt x="957604" y="0"/>
                  </a:cubicBezTo>
                  <a:cubicBezTo>
                    <a:pt x="1137356" y="-44648"/>
                    <a:pt x="1287051" y="23762"/>
                    <a:pt x="1409806" y="0"/>
                  </a:cubicBezTo>
                  <a:cubicBezTo>
                    <a:pt x="1532561" y="-23762"/>
                    <a:pt x="1690947" y="10870"/>
                    <a:pt x="1888609" y="0"/>
                  </a:cubicBezTo>
                  <a:cubicBezTo>
                    <a:pt x="2086271" y="-10870"/>
                    <a:pt x="2347704" y="87826"/>
                    <a:pt x="2660012" y="0"/>
                  </a:cubicBezTo>
                  <a:cubicBezTo>
                    <a:pt x="2690549" y="210877"/>
                    <a:pt x="2625096" y="386950"/>
                    <a:pt x="2660012" y="500461"/>
                  </a:cubicBezTo>
                  <a:cubicBezTo>
                    <a:pt x="2694928" y="613972"/>
                    <a:pt x="2650800" y="811867"/>
                    <a:pt x="2660012" y="950876"/>
                  </a:cubicBezTo>
                  <a:cubicBezTo>
                    <a:pt x="2669224" y="1089886"/>
                    <a:pt x="2642392" y="1340673"/>
                    <a:pt x="2660012" y="1451337"/>
                  </a:cubicBezTo>
                  <a:cubicBezTo>
                    <a:pt x="2677632" y="1562001"/>
                    <a:pt x="2638181" y="1807135"/>
                    <a:pt x="2660012" y="1976821"/>
                  </a:cubicBezTo>
                  <a:cubicBezTo>
                    <a:pt x="2681843" y="2146507"/>
                    <a:pt x="2598528" y="2393082"/>
                    <a:pt x="2660012" y="2502305"/>
                  </a:cubicBezTo>
                  <a:cubicBezTo>
                    <a:pt x="2470795" y="2555350"/>
                    <a:pt x="2353135" y="2470536"/>
                    <a:pt x="2128010" y="2502305"/>
                  </a:cubicBezTo>
                  <a:cubicBezTo>
                    <a:pt x="1902885" y="2534074"/>
                    <a:pt x="1808949" y="2479149"/>
                    <a:pt x="1542807" y="2502305"/>
                  </a:cubicBezTo>
                  <a:cubicBezTo>
                    <a:pt x="1276665" y="2525461"/>
                    <a:pt x="1229111" y="2440971"/>
                    <a:pt x="984204" y="2502305"/>
                  </a:cubicBezTo>
                  <a:cubicBezTo>
                    <a:pt x="739297" y="2563639"/>
                    <a:pt x="725121" y="2499952"/>
                    <a:pt x="532002" y="2502305"/>
                  </a:cubicBezTo>
                  <a:cubicBezTo>
                    <a:pt x="338883" y="2504658"/>
                    <a:pt x="215471" y="2500529"/>
                    <a:pt x="0" y="2502305"/>
                  </a:cubicBezTo>
                  <a:cubicBezTo>
                    <a:pt x="-13169" y="2292239"/>
                    <a:pt x="15233" y="2180715"/>
                    <a:pt x="0" y="1976821"/>
                  </a:cubicBezTo>
                  <a:cubicBezTo>
                    <a:pt x="-15233" y="1772927"/>
                    <a:pt x="53611" y="1700508"/>
                    <a:pt x="0" y="1501383"/>
                  </a:cubicBezTo>
                  <a:cubicBezTo>
                    <a:pt x="-53611" y="1302258"/>
                    <a:pt x="64295" y="1175396"/>
                    <a:pt x="0" y="950876"/>
                  </a:cubicBezTo>
                  <a:cubicBezTo>
                    <a:pt x="-64295" y="726356"/>
                    <a:pt x="51729" y="657851"/>
                    <a:pt x="0" y="450415"/>
                  </a:cubicBezTo>
                  <a:cubicBezTo>
                    <a:pt x="-51729" y="242979"/>
                    <a:pt x="18182" y="141487"/>
                    <a:pt x="0" y="0"/>
                  </a:cubicBezTo>
                  <a:close/>
                </a:path>
                <a:path w="2660012" h="2502305" stroke="0" extrusionOk="0">
                  <a:moveTo>
                    <a:pt x="0" y="0"/>
                  </a:moveTo>
                  <a:cubicBezTo>
                    <a:pt x="162408" y="-9009"/>
                    <a:pt x="372492" y="31370"/>
                    <a:pt x="532002" y="0"/>
                  </a:cubicBezTo>
                  <a:cubicBezTo>
                    <a:pt x="691512" y="-31370"/>
                    <a:pt x="957121" y="64084"/>
                    <a:pt x="1117205" y="0"/>
                  </a:cubicBezTo>
                  <a:cubicBezTo>
                    <a:pt x="1277289" y="-64084"/>
                    <a:pt x="1469489" y="33190"/>
                    <a:pt x="1569407" y="0"/>
                  </a:cubicBezTo>
                  <a:cubicBezTo>
                    <a:pt x="1669325" y="-33190"/>
                    <a:pt x="1881131" y="45909"/>
                    <a:pt x="2074809" y="0"/>
                  </a:cubicBezTo>
                  <a:cubicBezTo>
                    <a:pt x="2268487" y="-45909"/>
                    <a:pt x="2387587" y="55263"/>
                    <a:pt x="2660012" y="0"/>
                  </a:cubicBezTo>
                  <a:cubicBezTo>
                    <a:pt x="2710004" y="235928"/>
                    <a:pt x="2626377" y="423409"/>
                    <a:pt x="2660012" y="550507"/>
                  </a:cubicBezTo>
                  <a:cubicBezTo>
                    <a:pt x="2693647" y="677605"/>
                    <a:pt x="2609318" y="913526"/>
                    <a:pt x="2660012" y="1101014"/>
                  </a:cubicBezTo>
                  <a:cubicBezTo>
                    <a:pt x="2710706" y="1288502"/>
                    <a:pt x="2644282" y="1395924"/>
                    <a:pt x="2660012" y="1626498"/>
                  </a:cubicBezTo>
                  <a:cubicBezTo>
                    <a:pt x="2675742" y="1857072"/>
                    <a:pt x="2645907" y="1929052"/>
                    <a:pt x="2660012" y="2051890"/>
                  </a:cubicBezTo>
                  <a:cubicBezTo>
                    <a:pt x="2674117" y="2174728"/>
                    <a:pt x="2654525" y="2283064"/>
                    <a:pt x="2660012" y="2502305"/>
                  </a:cubicBezTo>
                  <a:cubicBezTo>
                    <a:pt x="2512250" y="2516403"/>
                    <a:pt x="2340153" y="2464409"/>
                    <a:pt x="2154610" y="2502305"/>
                  </a:cubicBezTo>
                  <a:cubicBezTo>
                    <a:pt x="1969067" y="2540201"/>
                    <a:pt x="1794465" y="2434157"/>
                    <a:pt x="1569407" y="2502305"/>
                  </a:cubicBezTo>
                  <a:cubicBezTo>
                    <a:pt x="1344349" y="2570453"/>
                    <a:pt x="1214694" y="2464034"/>
                    <a:pt x="1090605" y="2502305"/>
                  </a:cubicBezTo>
                  <a:cubicBezTo>
                    <a:pt x="966516" y="2540576"/>
                    <a:pt x="820046" y="2456199"/>
                    <a:pt x="585203" y="2502305"/>
                  </a:cubicBezTo>
                  <a:cubicBezTo>
                    <a:pt x="350360" y="2548411"/>
                    <a:pt x="137298" y="2480430"/>
                    <a:pt x="0" y="2502305"/>
                  </a:cubicBezTo>
                  <a:cubicBezTo>
                    <a:pt x="-18100" y="2361358"/>
                    <a:pt x="52479" y="2150890"/>
                    <a:pt x="0" y="2051890"/>
                  </a:cubicBezTo>
                  <a:cubicBezTo>
                    <a:pt x="-52479" y="1952891"/>
                    <a:pt x="11375" y="1756168"/>
                    <a:pt x="0" y="1601475"/>
                  </a:cubicBezTo>
                  <a:cubicBezTo>
                    <a:pt x="-11375" y="1446783"/>
                    <a:pt x="27309" y="1250697"/>
                    <a:pt x="0" y="1151060"/>
                  </a:cubicBezTo>
                  <a:cubicBezTo>
                    <a:pt x="-27309" y="1051423"/>
                    <a:pt x="6712" y="848652"/>
                    <a:pt x="0" y="625576"/>
                  </a:cubicBezTo>
                  <a:cubicBezTo>
                    <a:pt x="-6712" y="402500"/>
                    <a:pt x="52607" y="195187"/>
                    <a:pt x="0" y="0"/>
                  </a:cubicBezTo>
                  <a:close/>
                </a:path>
              </a:pathLst>
            </a:custGeom>
            <a:ln w="28575">
              <a:gradFill>
                <a:gsLst>
                  <a:gs pos="0">
                    <a:srgbClr val="C00000"/>
                  </a:gs>
                  <a:gs pos="67000">
                    <a:srgbClr val="2A2111"/>
                  </a:gs>
                  <a:gs pos="24000">
                    <a:srgbClr val="8B0C06"/>
                  </a:gs>
                  <a:gs pos="100000">
                    <a:srgbClr val="0A2814"/>
                  </a:gs>
                </a:gsLst>
                <a:lin ang="5400000" scaled="1"/>
              </a:gradFill>
              <a:extLst>
                <a:ext uri="{C807C97D-BFC1-408E-A445-0C87EB9F89A2}">
                  <ask:lineSketchStyleProps xmlns:ask="http://schemas.microsoft.com/office/drawing/2018/sketchyshapes" sd="48171178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7924550-C10C-37DA-578B-D88143035F20}"/>
                </a:ext>
              </a:extLst>
            </p:cNvPr>
            <p:cNvSpPr txBox="1"/>
            <p:nvPr/>
          </p:nvSpPr>
          <p:spPr>
            <a:xfrm>
              <a:off x="217569" y="8331199"/>
              <a:ext cx="2966335" cy="383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VT323" panose="00000509000000000000" pitchFamily="49" charset="0"/>
                </a:rPr>
                <a:t>Top-Down View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E1DA716-E8E9-7732-9CE3-F90AD6E28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84960" y="5198728"/>
            <a:ext cx="3702297" cy="2325022"/>
            <a:chOff x="7120375" y="5041093"/>
            <a:chExt cx="3154415" cy="177055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7A94D86-C1E7-C1DF-FFEC-862B5E996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23032" y="5041093"/>
              <a:ext cx="3151758" cy="1770556"/>
            </a:xfrm>
            <a:custGeom>
              <a:avLst/>
              <a:gdLst>
                <a:gd name="csX0" fmla="*/ 0 w 3699179"/>
                <a:gd name="csY0" fmla="*/ 0 h 2325022"/>
                <a:gd name="csX1" fmla="*/ 602438 w 3699179"/>
                <a:gd name="csY1" fmla="*/ 0 h 2325022"/>
                <a:gd name="csX2" fmla="*/ 1167884 w 3699179"/>
                <a:gd name="csY2" fmla="*/ 0 h 2325022"/>
                <a:gd name="csX3" fmla="*/ 1696338 w 3699179"/>
                <a:gd name="csY3" fmla="*/ 0 h 2325022"/>
                <a:gd name="csX4" fmla="*/ 2224792 w 3699179"/>
                <a:gd name="csY4" fmla="*/ 0 h 2325022"/>
                <a:gd name="csX5" fmla="*/ 2827230 w 3699179"/>
                <a:gd name="csY5" fmla="*/ 0 h 2325022"/>
                <a:gd name="csX6" fmla="*/ 3699179 w 3699179"/>
                <a:gd name="csY6" fmla="*/ 0 h 2325022"/>
                <a:gd name="csX7" fmla="*/ 3699179 w 3699179"/>
                <a:gd name="csY7" fmla="*/ 511505 h 2325022"/>
                <a:gd name="csX8" fmla="*/ 3699179 w 3699179"/>
                <a:gd name="csY8" fmla="*/ 1116011 h 2325022"/>
                <a:gd name="csX9" fmla="*/ 3699179 w 3699179"/>
                <a:gd name="csY9" fmla="*/ 1627515 h 2325022"/>
                <a:gd name="csX10" fmla="*/ 3699179 w 3699179"/>
                <a:gd name="csY10" fmla="*/ 2325022 h 2325022"/>
                <a:gd name="csX11" fmla="*/ 3244708 w 3699179"/>
                <a:gd name="csY11" fmla="*/ 2325022 h 2325022"/>
                <a:gd name="csX12" fmla="*/ 2642271 w 3699179"/>
                <a:gd name="csY12" fmla="*/ 2325022 h 2325022"/>
                <a:gd name="csX13" fmla="*/ 2150808 w 3699179"/>
                <a:gd name="csY13" fmla="*/ 2325022 h 2325022"/>
                <a:gd name="csX14" fmla="*/ 1548371 w 3699179"/>
                <a:gd name="csY14" fmla="*/ 2325022 h 2325022"/>
                <a:gd name="csX15" fmla="*/ 1093900 w 3699179"/>
                <a:gd name="csY15" fmla="*/ 2325022 h 2325022"/>
                <a:gd name="csX16" fmla="*/ 676421 w 3699179"/>
                <a:gd name="csY16" fmla="*/ 2325022 h 2325022"/>
                <a:gd name="csX17" fmla="*/ 0 w 3699179"/>
                <a:gd name="csY17" fmla="*/ 2325022 h 2325022"/>
                <a:gd name="csX18" fmla="*/ 0 w 3699179"/>
                <a:gd name="csY18" fmla="*/ 1720516 h 2325022"/>
                <a:gd name="csX19" fmla="*/ 0 w 3699179"/>
                <a:gd name="csY19" fmla="*/ 1209011 h 2325022"/>
                <a:gd name="csX20" fmla="*/ 0 w 3699179"/>
                <a:gd name="csY20" fmla="*/ 581256 h 2325022"/>
                <a:gd name="csX21" fmla="*/ 0 w 3699179"/>
                <a:gd name="csY21" fmla="*/ 0 h 23250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3699179" h="2325022" fill="none" extrusionOk="0">
                  <a:moveTo>
                    <a:pt x="0" y="0"/>
                  </a:moveTo>
                  <a:cubicBezTo>
                    <a:pt x="148789" y="-39361"/>
                    <a:pt x="469559" y="163"/>
                    <a:pt x="602438" y="0"/>
                  </a:cubicBezTo>
                  <a:cubicBezTo>
                    <a:pt x="735317" y="-163"/>
                    <a:pt x="889957" y="49974"/>
                    <a:pt x="1167884" y="0"/>
                  </a:cubicBezTo>
                  <a:cubicBezTo>
                    <a:pt x="1445811" y="-49974"/>
                    <a:pt x="1574494" y="60499"/>
                    <a:pt x="1696338" y="0"/>
                  </a:cubicBezTo>
                  <a:cubicBezTo>
                    <a:pt x="1818182" y="-60499"/>
                    <a:pt x="2101790" y="18869"/>
                    <a:pt x="2224792" y="0"/>
                  </a:cubicBezTo>
                  <a:cubicBezTo>
                    <a:pt x="2347794" y="-18869"/>
                    <a:pt x="2581765" y="44236"/>
                    <a:pt x="2827230" y="0"/>
                  </a:cubicBezTo>
                  <a:cubicBezTo>
                    <a:pt x="3072695" y="-44236"/>
                    <a:pt x="3332526" y="30991"/>
                    <a:pt x="3699179" y="0"/>
                  </a:cubicBezTo>
                  <a:cubicBezTo>
                    <a:pt x="3714252" y="168999"/>
                    <a:pt x="3642175" y="376264"/>
                    <a:pt x="3699179" y="511505"/>
                  </a:cubicBezTo>
                  <a:cubicBezTo>
                    <a:pt x="3756183" y="646747"/>
                    <a:pt x="3665714" y="814236"/>
                    <a:pt x="3699179" y="1116011"/>
                  </a:cubicBezTo>
                  <a:cubicBezTo>
                    <a:pt x="3732644" y="1417786"/>
                    <a:pt x="3647942" y="1522657"/>
                    <a:pt x="3699179" y="1627515"/>
                  </a:cubicBezTo>
                  <a:cubicBezTo>
                    <a:pt x="3750416" y="1732373"/>
                    <a:pt x="3664127" y="1999432"/>
                    <a:pt x="3699179" y="2325022"/>
                  </a:cubicBezTo>
                  <a:cubicBezTo>
                    <a:pt x="3488542" y="2359631"/>
                    <a:pt x="3343186" y="2320703"/>
                    <a:pt x="3244708" y="2325022"/>
                  </a:cubicBezTo>
                  <a:cubicBezTo>
                    <a:pt x="3146230" y="2329341"/>
                    <a:pt x="2876195" y="2280687"/>
                    <a:pt x="2642271" y="2325022"/>
                  </a:cubicBezTo>
                  <a:cubicBezTo>
                    <a:pt x="2408347" y="2369357"/>
                    <a:pt x="2328706" y="2311650"/>
                    <a:pt x="2150808" y="2325022"/>
                  </a:cubicBezTo>
                  <a:cubicBezTo>
                    <a:pt x="1972910" y="2338394"/>
                    <a:pt x="1709428" y="2315567"/>
                    <a:pt x="1548371" y="2325022"/>
                  </a:cubicBezTo>
                  <a:cubicBezTo>
                    <a:pt x="1387314" y="2334477"/>
                    <a:pt x="1230874" y="2287172"/>
                    <a:pt x="1093900" y="2325022"/>
                  </a:cubicBezTo>
                  <a:cubicBezTo>
                    <a:pt x="956926" y="2362872"/>
                    <a:pt x="763114" y="2293062"/>
                    <a:pt x="676421" y="2325022"/>
                  </a:cubicBezTo>
                  <a:cubicBezTo>
                    <a:pt x="589728" y="2356982"/>
                    <a:pt x="142371" y="2245258"/>
                    <a:pt x="0" y="2325022"/>
                  </a:cubicBezTo>
                  <a:cubicBezTo>
                    <a:pt x="-57414" y="2039356"/>
                    <a:pt x="50169" y="1915830"/>
                    <a:pt x="0" y="1720516"/>
                  </a:cubicBezTo>
                  <a:cubicBezTo>
                    <a:pt x="-50169" y="1525202"/>
                    <a:pt x="34141" y="1337308"/>
                    <a:pt x="0" y="1209011"/>
                  </a:cubicBezTo>
                  <a:cubicBezTo>
                    <a:pt x="-34141" y="1080714"/>
                    <a:pt x="68795" y="793893"/>
                    <a:pt x="0" y="581256"/>
                  </a:cubicBezTo>
                  <a:cubicBezTo>
                    <a:pt x="-68795" y="368620"/>
                    <a:pt x="22816" y="211193"/>
                    <a:pt x="0" y="0"/>
                  </a:cubicBezTo>
                  <a:close/>
                </a:path>
                <a:path w="3699179" h="2325022" stroke="0" extrusionOk="0">
                  <a:moveTo>
                    <a:pt x="0" y="0"/>
                  </a:moveTo>
                  <a:cubicBezTo>
                    <a:pt x="213042" y="-57922"/>
                    <a:pt x="294693" y="4110"/>
                    <a:pt x="491462" y="0"/>
                  </a:cubicBezTo>
                  <a:cubicBezTo>
                    <a:pt x="688231" y="-4110"/>
                    <a:pt x="810191" y="10429"/>
                    <a:pt x="908941" y="0"/>
                  </a:cubicBezTo>
                  <a:cubicBezTo>
                    <a:pt x="1007691" y="-10429"/>
                    <a:pt x="1302864" y="29511"/>
                    <a:pt x="1511379" y="0"/>
                  </a:cubicBezTo>
                  <a:cubicBezTo>
                    <a:pt x="1719894" y="-29511"/>
                    <a:pt x="1820726" y="15258"/>
                    <a:pt x="2002841" y="0"/>
                  </a:cubicBezTo>
                  <a:cubicBezTo>
                    <a:pt x="2184956" y="-15258"/>
                    <a:pt x="2309905" y="32253"/>
                    <a:pt x="2494304" y="0"/>
                  </a:cubicBezTo>
                  <a:cubicBezTo>
                    <a:pt x="2678703" y="-32253"/>
                    <a:pt x="2804271" y="541"/>
                    <a:pt x="3096741" y="0"/>
                  </a:cubicBezTo>
                  <a:cubicBezTo>
                    <a:pt x="3389211" y="-541"/>
                    <a:pt x="3460328" y="21045"/>
                    <a:pt x="3699179" y="0"/>
                  </a:cubicBezTo>
                  <a:cubicBezTo>
                    <a:pt x="3709654" y="167730"/>
                    <a:pt x="3653997" y="425087"/>
                    <a:pt x="3699179" y="627756"/>
                  </a:cubicBezTo>
                  <a:cubicBezTo>
                    <a:pt x="3744361" y="830425"/>
                    <a:pt x="3662856" y="1036860"/>
                    <a:pt x="3699179" y="1162511"/>
                  </a:cubicBezTo>
                  <a:cubicBezTo>
                    <a:pt x="3735502" y="1288162"/>
                    <a:pt x="3695470" y="1539723"/>
                    <a:pt x="3699179" y="1697266"/>
                  </a:cubicBezTo>
                  <a:cubicBezTo>
                    <a:pt x="3702888" y="1854809"/>
                    <a:pt x="3679828" y="2122588"/>
                    <a:pt x="3699179" y="2325022"/>
                  </a:cubicBezTo>
                  <a:cubicBezTo>
                    <a:pt x="3554274" y="2379812"/>
                    <a:pt x="3407794" y="2264680"/>
                    <a:pt x="3133733" y="2325022"/>
                  </a:cubicBezTo>
                  <a:cubicBezTo>
                    <a:pt x="2859672" y="2385364"/>
                    <a:pt x="2726424" y="2296064"/>
                    <a:pt x="2531295" y="2325022"/>
                  </a:cubicBezTo>
                  <a:cubicBezTo>
                    <a:pt x="2336166" y="2353980"/>
                    <a:pt x="2221168" y="2253977"/>
                    <a:pt x="1928858" y="2325022"/>
                  </a:cubicBezTo>
                  <a:cubicBezTo>
                    <a:pt x="1636548" y="2396067"/>
                    <a:pt x="1639668" y="2308679"/>
                    <a:pt x="1474387" y="2325022"/>
                  </a:cubicBezTo>
                  <a:cubicBezTo>
                    <a:pt x="1309106" y="2341365"/>
                    <a:pt x="1065827" y="2314410"/>
                    <a:pt x="945933" y="2325022"/>
                  </a:cubicBezTo>
                  <a:cubicBezTo>
                    <a:pt x="826039" y="2335634"/>
                    <a:pt x="396722" y="2283301"/>
                    <a:pt x="0" y="2325022"/>
                  </a:cubicBezTo>
                  <a:cubicBezTo>
                    <a:pt x="-20821" y="2207657"/>
                    <a:pt x="41324" y="1922798"/>
                    <a:pt x="0" y="1743767"/>
                  </a:cubicBezTo>
                  <a:cubicBezTo>
                    <a:pt x="-41324" y="1564736"/>
                    <a:pt x="25820" y="1363436"/>
                    <a:pt x="0" y="1209011"/>
                  </a:cubicBezTo>
                  <a:cubicBezTo>
                    <a:pt x="-25820" y="1054586"/>
                    <a:pt x="40350" y="902858"/>
                    <a:pt x="0" y="674256"/>
                  </a:cubicBezTo>
                  <a:cubicBezTo>
                    <a:pt x="-40350" y="445654"/>
                    <a:pt x="47766" y="217176"/>
                    <a:pt x="0" y="0"/>
                  </a:cubicBezTo>
                  <a:close/>
                </a:path>
              </a:pathLst>
            </a:custGeom>
            <a:ln w="28575">
              <a:gradFill>
                <a:gsLst>
                  <a:gs pos="0">
                    <a:srgbClr val="C00000"/>
                  </a:gs>
                  <a:gs pos="24000">
                    <a:srgbClr val="8B0C06"/>
                  </a:gs>
                  <a:gs pos="67000">
                    <a:srgbClr val="2A2111"/>
                  </a:gs>
                  <a:gs pos="100000">
                    <a:srgbClr val="0A2814"/>
                  </a:gs>
                </a:gsLst>
                <a:lin ang="5400000" scaled="1"/>
              </a:gra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3B324F9-4AC3-CA13-A146-929B23792E70}"/>
                </a:ext>
              </a:extLst>
            </p:cNvPr>
            <p:cNvSpPr txBox="1"/>
            <p:nvPr/>
          </p:nvSpPr>
          <p:spPr>
            <a:xfrm>
              <a:off x="7120375" y="5663656"/>
              <a:ext cx="3151758" cy="3081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  <a:latin typeface="VT323" panose="00000509000000000000" pitchFamily="49" charset="0"/>
                </a:rPr>
                <a:t>First-person View</a:t>
              </a: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A7382547-5ABA-B9F2-9CC0-30921322D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249" y="13938375"/>
            <a:ext cx="1035046" cy="1035046"/>
          </a:xfrm>
          <a:prstGeom prst="rect">
            <a:avLst/>
          </a:prstGeom>
        </p:spPr>
      </p:pic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EB865011-9C74-96B9-68DA-52B728B51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9883738"/>
              </p:ext>
            </p:extLst>
          </p:nvPr>
        </p:nvGraphicFramePr>
        <p:xfrm>
          <a:off x="7471468" y="7640166"/>
          <a:ext cx="2913655" cy="2410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54F1B701-F41E-66D3-B75B-8800887FA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778" y="3834983"/>
            <a:ext cx="2452208" cy="3678311"/>
          </a:xfrm>
          <a:custGeom>
            <a:avLst/>
            <a:gdLst>
              <a:gd name="csX0" fmla="*/ 0 w 2452208"/>
              <a:gd name="csY0" fmla="*/ 0 h 3678311"/>
              <a:gd name="csX1" fmla="*/ 539486 w 2452208"/>
              <a:gd name="csY1" fmla="*/ 0 h 3678311"/>
              <a:gd name="csX2" fmla="*/ 1005405 w 2452208"/>
              <a:gd name="csY2" fmla="*/ 0 h 3678311"/>
              <a:gd name="csX3" fmla="*/ 1495847 w 2452208"/>
              <a:gd name="csY3" fmla="*/ 0 h 3678311"/>
              <a:gd name="csX4" fmla="*/ 1912722 w 2452208"/>
              <a:gd name="csY4" fmla="*/ 0 h 3678311"/>
              <a:gd name="csX5" fmla="*/ 2452208 w 2452208"/>
              <a:gd name="csY5" fmla="*/ 0 h 3678311"/>
              <a:gd name="csX6" fmla="*/ 2452208 w 2452208"/>
              <a:gd name="csY6" fmla="*/ 488690 h 3678311"/>
              <a:gd name="csX7" fmla="*/ 2452208 w 2452208"/>
              <a:gd name="csY7" fmla="*/ 977380 h 3678311"/>
              <a:gd name="csX8" fmla="*/ 2452208 w 2452208"/>
              <a:gd name="csY8" fmla="*/ 1466070 h 3678311"/>
              <a:gd name="csX9" fmla="*/ 2452208 w 2452208"/>
              <a:gd name="csY9" fmla="*/ 1917976 h 3678311"/>
              <a:gd name="csX10" fmla="*/ 2452208 w 2452208"/>
              <a:gd name="csY10" fmla="*/ 2480233 h 3678311"/>
              <a:gd name="csX11" fmla="*/ 2452208 w 2452208"/>
              <a:gd name="csY11" fmla="*/ 3079272 h 3678311"/>
              <a:gd name="csX12" fmla="*/ 2452208 w 2452208"/>
              <a:gd name="csY12" fmla="*/ 3678311 h 3678311"/>
              <a:gd name="csX13" fmla="*/ 1986288 w 2452208"/>
              <a:gd name="csY13" fmla="*/ 3678311 h 3678311"/>
              <a:gd name="csX14" fmla="*/ 1569413 w 2452208"/>
              <a:gd name="csY14" fmla="*/ 3678311 h 3678311"/>
              <a:gd name="csX15" fmla="*/ 1054449 w 2452208"/>
              <a:gd name="csY15" fmla="*/ 3678311 h 3678311"/>
              <a:gd name="csX16" fmla="*/ 514964 w 2452208"/>
              <a:gd name="csY16" fmla="*/ 3678311 h 3678311"/>
              <a:gd name="csX17" fmla="*/ 0 w 2452208"/>
              <a:gd name="csY17" fmla="*/ 3678311 h 3678311"/>
              <a:gd name="csX18" fmla="*/ 0 w 2452208"/>
              <a:gd name="csY18" fmla="*/ 3189621 h 3678311"/>
              <a:gd name="csX19" fmla="*/ 0 w 2452208"/>
              <a:gd name="csY19" fmla="*/ 2700931 h 3678311"/>
              <a:gd name="csX20" fmla="*/ 0 w 2452208"/>
              <a:gd name="csY20" fmla="*/ 2101892 h 3678311"/>
              <a:gd name="csX21" fmla="*/ 0 w 2452208"/>
              <a:gd name="csY21" fmla="*/ 1686768 h 3678311"/>
              <a:gd name="csX22" fmla="*/ 0 w 2452208"/>
              <a:gd name="csY22" fmla="*/ 1161295 h 3678311"/>
              <a:gd name="csX23" fmla="*/ 0 w 2452208"/>
              <a:gd name="csY23" fmla="*/ 672605 h 3678311"/>
              <a:gd name="csX24" fmla="*/ 0 w 2452208"/>
              <a:gd name="csY24" fmla="*/ 0 h 36783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2452208" h="3678311" fill="none" extrusionOk="0">
                <a:moveTo>
                  <a:pt x="0" y="0"/>
                </a:moveTo>
                <a:cubicBezTo>
                  <a:pt x="158237" y="-29600"/>
                  <a:pt x="396275" y="41803"/>
                  <a:pt x="539486" y="0"/>
                </a:cubicBezTo>
                <a:cubicBezTo>
                  <a:pt x="682697" y="-41803"/>
                  <a:pt x="893086" y="6641"/>
                  <a:pt x="1005405" y="0"/>
                </a:cubicBezTo>
                <a:cubicBezTo>
                  <a:pt x="1117724" y="-6641"/>
                  <a:pt x="1389819" y="32390"/>
                  <a:pt x="1495847" y="0"/>
                </a:cubicBezTo>
                <a:cubicBezTo>
                  <a:pt x="1601875" y="-32390"/>
                  <a:pt x="1805322" y="48921"/>
                  <a:pt x="1912722" y="0"/>
                </a:cubicBezTo>
                <a:cubicBezTo>
                  <a:pt x="2020123" y="-48921"/>
                  <a:pt x="2255940" y="10932"/>
                  <a:pt x="2452208" y="0"/>
                </a:cubicBezTo>
                <a:cubicBezTo>
                  <a:pt x="2501049" y="229382"/>
                  <a:pt x="2394778" y="270409"/>
                  <a:pt x="2452208" y="488690"/>
                </a:cubicBezTo>
                <a:cubicBezTo>
                  <a:pt x="2509638" y="706971"/>
                  <a:pt x="2397279" y="774473"/>
                  <a:pt x="2452208" y="977380"/>
                </a:cubicBezTo>
                <a:cubicBezTo>
                  <a:pt x="2507137" y="1180287"/>
                  <a:pt x="2431045" y="1353742"/>
                  <a:pt x="2452208" y="1466070"/>
                </a:cubicBezTo>
                <a:cubicBezTo>
                  <a:pt x="2473371" y="1578398"/>
                  <a:pt x="2438130" y="1808633"/>
                  <a:pt x="2452208" y="1917976"/>
                </a:cubicBezTo>
                <a:cubicBezTo>
                  <a:pt x="2466286" y="2027319"/>
                  <a:pt x="2421778" y="2349398"/>
                  <a:pt x="2452208" y="2480233"/>
                </a:cubicBezTo>
                <a:cubicBezTo>
                  <a:pt x="2482638" y="2611068"/>
                  <a:pt x="2408765" y="2834527"/>
                  <a:pt x="2452208" y="3079272"/>
                </a:cubicBezTo>
                <a:cubicBezTo>
                  <a:pt x="2495651" y="3324017"/>
                  <a:pt x="2413178" y="3419245"/>
                  <a:pt x="2452208" y="3678311"/>
                </a:cubicBezTo>
                <a:cubicBezTo>
                  <a:pt x="2347043" y="3732916"/>
                  <a:pt x="2079979" y="3642740"/>
                  <a:pt x="1986288" y="3678311"/>
                </a:cubicBezTo>
                <a:cubicBezTo>
                  <a:pt x="1892597" y="3713882"/>
                  <a:pt x="1680330" y="3671811"/>
                  <a:pt x="1569413" y="3678311"/>
                </a:cubicBezTo>
                <a:cubicBezTo>
                  <a:pt x="1458496" y="3684811"/>
                  <a:pt x="1163176" y="3633015"/>
                  <a:pt x="1054449" y="3678311"/>
                </a:cubicBezTo>
                <a:cubicBezTo>
                  <a:pt x="945722" y="3723607"/>
                  <a:pt x="711632" y="3655462"/>
                  <a:pt x="514964" y="3678311"/>
                </a:cubicBezTo>
                <a:cubicBezTo>
                  <a:pt x="318296" y="3701160"/>
                  <a:pt x="191324" y="3642678"/>
                  <a:pt x="0" y="3678311"/>
                </a:cubicBezTo>
                <a:cubicBezTo>
                  <a:pt x="-7576" y="3497603"/>
                  <a:pt x="20343" y="3306214"/>
                  <a:pt x="0" y="3189621"/>
                </a:cubicBezTo>
                <a:cubicBezTo>
                  <a:pt x="-20343" y="3073028"/>
                  <a:pt x="46251" y="2813034"/>
                  <a:pt x="0" y="2700931"/>
                </a:cubicBezTo>
                <a:cubicBezTo>
                  <a:pt x="-46251" y="2588828"/>
                  <a:pt x="500" y="2230650"/>
                  <a:pt x="0" y="2101892"/>
                </a:cubicBezTo>
                <a:cubicBezTo>
                  <a:pt x="-500" y="1973134"/>
                  <a:pt x="46337" y="1886191"/>
                  <a:pt x="0" y="1686768"/>
                </a:cubicBezTo>
                <a:cubicBezTo>
                  <a:pt x="-46337" y="1487345"/>
                  <a:pt x="23092" y="1385742"/>
                  <a:pt x="0" y="1161295"/>
                </a:cubicBezTo>
                <a:cubicBezTo>
                  <a:pt x="-23092" y="936848"/>
                  <a:pt x="7646" y="913536"/>
                  <a:pt x="0" y="672605"/>
                </a:cubicBezTo>
                <a:cubicBezTo>
                  <a:pt x="-7646" y="431674"/>
                  <a:pt x="59510" y="275659"/>
                  <a:pt x="0" y="0"/>
                </a:cubicBezTo>
                <a:close/>
              </a:path>
              <a:path w="2452208" h="3678311" stroke="0" extrusionOk="0">
                <a:moveTo>
                  <a:pt x="0" y="0"/>
                </a:moveTo>
                <a:cubicBezTo>
                  <a:pt x="130305" y="-34577"/>
                  <a:pt x="386823" y="18072"/>
                  <a:pt x="539486" y="0"/>
                </a:cubicBezTo>
                <a:cubicBezTo>
                  <a:pt x="692149" y="-18072"/>
                  <a:pt x="957142" y="305"/>
                  <a:pt x="1078972" y="0"/>
                </a:cubicBezTo>
                <a:cubicBezTo>
                  <a:pt x="1200802" y="-305"/>
                  <a:pt x="1424809" y="39851"/>
                  <a:pt x="1569413" y="0"/>
                </a:cubicBezTo>
                <a:cubicBezTo>
                  <a:pt x="1714017" y="-39851"/>
                  <a:pt x="2015362" y="49729"/>
                  <a:pt x="2452208" y="0"/>
                </a:cubicBezTo>
                <a:cubicBezTo>
                  <a:pt x="2497484" y="267093"/>
                  <a:pt x="2396900" y="409654"/>
                  <a:pt x="2452208" y="562256"/>
                </a:cubicBezTo>
                <a:cubicBezTo>
                  <a:pt x="2507516" y="714858"/>
                  <a:pt x="2451835" y="855645"/>
                  <a:pt x="2452208" y="1050946"/>
                </a:cubicBezTo>
                <a:cubicBezTo>
                  <a:pt x="2452581" y="1246247"/>
                  <a:pt x="2438700" y="1304802"/>
                  <a:pt x="2452208" y="1466070"/>
                </a:cubicBezTo>
                <a:cubicBezTo>
                  <a:pt x="2465716" y="1627338"/>
                  <a:pt x="2443156" y="1715510"/>
                  <a:pt x="2452208" y="1881193"/>
                </a:cubicBezTo>
                <a:cubicBezTo>
                  <a:pt x="2461260" y="2046876"/>
                  <a:pt x="2430612" y="2150271"/>
                  <a:pt x="2452208" y="2369883"/>
                </a:cubicBezTo>
                <a:cubicBezTo>
                  <a:pt x="2473804" y="2589495"/>
                  <a:pt x="2408797" y="2707831"/>
                  <a:pt x="2452208" y="2821790"/>
                </a:cubicBezTo>
                <a:cubicBezTo>
                  <a:pt x="2495619" y="2935749"/>
                  <a:pt x="2373901" y="3276149"/>
                  <a:pt x="2452208" y="3678311"/>
                </a:cubicBezTo>
                <a:cubicBezTo>
                  <a:pt x="2310855" y="3723601"/>
                  <a:pt x="2069114" y="3640835"/>
                  <a:pt x="1961766" y="3678311"/>
                </a:cubicBezTo>
                <a:cubicBezTo>
                  <a:pt x="1854418" y="3715787"/>
                  <a:pt x="1582954" y="3652594"/>
                  <a:pt x="1471325" y="3678311"/>
                </a:cubicBezTo>
                <a:cubicBezTo>
                  <a:pt x="1359696" y="3704028"/>
                  <a:pt x="1157071" y="3653041"/>
                  <a:pt x="931839" y="3678311"/>
                </a:cubicBezTo>
                <a:cubicBezTo>
                  <a:pt x="706607" y="3703581"/>
                  <a:pt x="604989" y="3663638"/>
                  <a:pt x="514964" y="3678311"/>
                </a:cubicBezTo>
                <a:cubicBezTo>
                  <a:pt x="424939" y="3692984"/>
                  <a:pt x="235120" y="3625165"/>
                  <a:pt x="0" y="3678311"/>
                </a:cubicBezTo>
                <a:cubicBezTo>
                  <a:pt x="-28965" y="3495904"/>
                  <a:pt x="19296" y="3384849"/>
                  <a:pt x="0" y="3263187"/>
                </a:cubicBezTo>
                <a:cubicBezTo>
                  <a:pt x="-19296" y="3141525"/>
                  <a:pt x="50295" y="2929476"/>
                  <a:pt x="0" y="2811281"/>
                </a:cubicBezTo>
                <a:cubicBezTo>
                  <a:pt x="-50295" y="2693086"/>
                  <a:pt x="60185" y="2402268"/>
                  <a:pt x="0" y="2212241"/>
                </a:cubicBezTo>
                <a:cubicBezTo>
                  <a:pt x="-60185" y="2022214"/>
                  <a:pt x="24295" y="1887457"/>
                  <a:pt x="0" y="1686768"/>
                </a:cubicBezTo>
                <a:cubicBezTo>
                  <a:pt x="-24295" y="1486079"/>
                  <a:pt x="47857" y="1344696"/>
                  <a:pt x="0" y="1234862"/>
                </a:cubicBezTo>
                <a:cubicBezTo>
                  <a:pt x="-47857" y="1125028"/>
                  <a:pt x="43739" y="834856"/>
                  <a:pt x="0" y="635822"/>
                </a:cubicBezTo>
                <a:cubicBezTo>
                  <a:pt x="-43739" y="436788"/>
                  <a:pt x="55314" y="280705"/>
                  <a:pt x="0" y="0"/>
                </a:cubicBezTo>
                <a:close/>
              </a:path>
            </a:pathLst>
          </a:custGeom>
          <a:ln w="28575">
            <a:gradFill>
              <a:gsLst>
                <a:gs pos="0">
                  <a:srgbClr val="C00000"/>
                </a:gs>
                <a:gs pos="24000">
                  <a:srgbClr val="8B0C06"/>
                </a:gs>
                <a:gs pos="67000">
                  <a:srgbClr val="2A2111"/>
                </a:gs>
                <a:gs pos="100000">
                  <a:srgbClr val="0A2814"/>
                </a:gs>
              </a:gsLst>
              <a:lin ang="5400000" scaled="1"/>
            </a:gradFill>
            <a:extLst>
              <a:ext uri="{C807C97D-BFC1-408E-A445-0C87EB9F89A2}">
                <ask:lineSketchStyleProps xmlns:ask="http://schemas.microsoft.com/office/drawing/2018/sketchyshapes" sd="157249499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BD4D1E3F-854C-1B11-BF73-C43ED8486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4878192"/>
              </p:ext>
            </p:extLst>
          </p:nvPr>
        </p:nvGraphicFramePr>
        <p:xfrm>
          <a:off x="8143253" y="10208992"/>
          <a:ext cx="2545385" cy="20107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1531</TotalTime>
  <Words>471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Rockwell</vt:lpstr>
      <vt:lpstr>Rockwell Extra Bold</vt:lpstr>
      <vt:lpstr>VT323</vt:lpstr>
      <vt:lpstr>Office Theme</vt:lpstr>
      <vt:lpstr>PowerPoint Presentation</vt:lpstr>
    </vt:vector>
  </TitlesOfParts>
  <Company>Birmingham City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Gerald Feldman</dc:creator>
  <cp:lastModifiedBy>Tamer Hussen</cp:lastModifiedBy>
  <cp:revision>22</cp:revision>
  <dcterms:created xsi:type="dcterms:W3CDTF">2026-02-20T10:11:09Z</dcterms:created>
  <dcterms:modified xsi:type="dcterms:W3CDTF">2026-05-10T04:40:04Z</dcterms:modified>
</cp:coreProperties>
</file>